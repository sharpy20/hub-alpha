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120"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060E2-C652-73DD-EF02-0FE21B1C76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6493FAC-D6EC-8BF5-0324-377691E10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7E7442A-7119-ED6E-9A9C-8951B6ECFC5A}"/>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5" name="Footer Placeholder 4">
            <a:extLst>
              <a:ext uri="{FF2B5EF4-FFF2-40B4-BE49-F238E27FC236}">
                <a16:creationId xmlns:a16="http://schemas.microsoft.com/office/drawing/2014/main" id="{C7688E68-95C7-A9B8-48CF-A6E1C64DA3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87E9CE-2BF7-F77A-AB47-A46E6A70CF51}"/>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2479290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BFB8C-7A6C-6489-BE24-E85A65F9E02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D6EA9CB-1E95-C2B5-D227-A002E66A2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A373A2-EC4E-93DC-A1C6-BC7CC6678BFC}"/>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5" name="Footer Placeholder 4">
            <a:extLst>
              <a:ext uri="{FF2B5EF4-FFF2-40B4-BE49-F238E27FC236}">
                <a16:creationId xmlns:a16="http://schemas.microsoft.com/office/drawing/2014/main" id="{F7819AC3-F9B5-6295-84C6-8546BD37F88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ADCC6F9-0CA7-50CB-E774-C5D27A63CD15}"/>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2943743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3E8CC-4A67-89EA-31E5-DF439DC683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480E6DF-3D22-DAEB-2CDF-8A22A492CFD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DFBD3C-20C4-CEB2-295A-6963F4DA5AB8}"/>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5" name="Footer Placeholder 4">
            <a:extLst>
              <a:ext uri="{FF2B5EF4-FFF2-40B4-BE49-F238E27FC236}">
                <a16:creationId xmlns:a16="http://schemas.microsoft.com/office/drawing/2014/main" id="{53684C0E-C554-F65A-2E55-DED82E46ED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4CF8CD-4C02-45EF-4FEC-55D9171AC541}"/>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2755756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29227-EFA2-F6E2-C603-5FB8D26E78A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C5D0053-8491-9DD8-8B27-3B7801700B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445A832-1473-53CE-7042-0932067287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7DA462D-432B-466F-8D9D-E2D8A418ECD1}"/>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6" name="Footer Placeholder 5">
            <a:extLst>
              <a:ext uri="{FF2B5EF4-FFF2-40B4-BE49-F238E27FC236}">
                <a16:creationId xmlns:a16="http://schemas.microsoft.com/office/drawing/2014/main" id="{EE3770ED-5EDC-FEBC-2CAF-26DE5FB1BE4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C6375E-CE32-9514-AC50-3EA60F2E8B8D}"/>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1018026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984A9-F083-9869-1C01-A6D685DC784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42907C0-1DE6-905A-A7ED-4BD26C18FB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AA672F-4A3C-3AF5-DF99-54B5CFF4EB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B20CF4F-B11D-5804-545A-2A3A1C4BA7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9941A1-6AB4-2A71-6D99-114FDC1942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6AAEE9D-0814-A5B2-2F0C-C145FB05BEA9}"/>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8" name="Footer Placeholder 7">
            <a:extLst>
              <a:ext uri="{FF2B5EF4-FFF2-40B4-BE49-F238E27FC236}">
                <a16:creationId xmlns:a16="http://schemas.microsoft.com/office/drawing/2014/main" id="{9116D369-D8F6-583F-4BE6-E06A6DEE93D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F46A521-03FB-392E-A9CF-9969D9FADF2E}"/>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1269514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FFFB3-7A70-E4CF-F056-C7B7BA63F4E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598FC2B-674F-5608-4B45-FAB63F00C20B}"/>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4" name="Footer Placeholder 3">
            <a:extLst>
              <a:ext uri="{FF2B5EF4-FFF2-40B4-BE49-F238E27FC236}">
                <a16:creationId xmlns:a16="http://schemas.microsoft.com/office/drawing/2014/main" id="{A6D84F7E-E254-9F80-ED5B-A4754E85CBF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798EE5F-A5EB-46E1-0F19-9DDCBA771F47}"/>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2276456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23555-5731-52DC-D889-21CDBD99FFDF}"/>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3" name="Footer Placeholder 2">
            <a:extLst>
              <a:ext uri="{FF2B5EF4-FFF2-40B4-BE49-F238E27FC236}">
                <a16:creationId xmlns:a16="http://schemas.microsoft.com/office/drawing/2014/main" id="{140CC2E4-81D5-E98D-2411-3ECA8EA9629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78D9C51-AF5A-4D04-9064-5458FB9B9217}"/>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600109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BA710-EDD8-9873-9FA5-B71C216BA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DF809A-D8AB-807D-52F4-928D1A417F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2C75237-4D50-535E-ACDF-E0D6F5EC5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A26136-BD91-2DBE-34CD-C3A6AFD362E8}"/>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6" name="Footer Placeholder 5">
            <a:extLst>
              <a:ext uri="{FF2B5EF4-FFF2-40B4-BE49-F238E27FC236}">
                <a16:creationId xmlns:a16="http://schemas.microsoft.com/office/drawing/2014/main" id="{8789541F-4DF2-2B07-807B-9E8C3614F65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4FA7C17-4250-0EE9-1EE2-0A6CCEC91552}"/>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3589561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C78B9-FA84-88C3-CEA5-EDAE6373ED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B54E626-6BF9-C15D-D4BF-DC783FB88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5DD8364-2073-BB1B-50D5-D653BFCC88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172ABB-5474-D3C5-1260-92926FA3DA11}"/>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6" name="Footer Placeholder 5">
            <a:extLst>
              <a:ext uri="{FF2B5EF4-FFF2-40B4-BE49-F238E27FC236}">
                <a16:creationId xmlns:a16="http://schemas.microsoft.com/office/drawing/2014/main" id="{976305D4-646F-5738-6D19-B48E095FEF1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9DFF3A-1976-3D0B-57EF-798AC42F7B3D}"/>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219099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354F2-EA15-4495-01C5-8BFA2EED821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2097ADA-2C99-569C-20F7-7F3A654899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92702DF-B016-554D-7D7D-70714C1A057B}"/>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5" name="Footer Placeholder 4">
            <a:extLst>
              <a:ext uri="{FF2B5EF4-FFF2-40B4-BE49-F238E27FC236}">
                <a16:creationId xmlns:a16="http://schemas.microsoft.com/office/drawing/2014/main" id="{74E281E5-E345-E20C-EF30-734866DF807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4E6FF19-76F5-62AA-043B-EA66EE6BEA49}"/>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360073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EDA2D3-458A-8C12-2484-B8834FDA55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AD75C2-978D-20F4-F277-4681242CC0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40EDC08-5416-EE41-200E-B990CDF797D9}"/>
              </a:ext>
            </a:extLst>
          </p:cNvPr>
          <p:cNvSpPr>
            <a:spLocks noGrp="1"/>
          </p:cNvSpPr>
          <p:nvPr>
            <p:ph type="dt" sz="half" idx="10"/>
          </p:nvPr>
        </p:nvSpPr>
        <p:spPr/>
        <p:txBody>
          <a:bodyPr/>
          <a:lstStyle/>
          <a:p>
            <a:fld id="{29F766BA-CADC-4A70-8D82-10186D870AF0}" type="datetimeFigureOut">
              <a:rPr lang="en-GB" smtClean="0"/>
              <a:t>28/12/2024</a:t>
            </a:fld>
            <a:endParaRPr lang="en-GB"/>
          </a:p>
        </p:txBody>
      </p:sp>
      <p:sp>
        <p:nvSpPr>
          <p:cNvPr id="5" name="Footer Placeholder 4">
            <a:extLst>
              <a:ext uri="{FF2B5EF4-FFF2-40B4-BE49-F238E27FC236}">
                <a16:creationId xmlns:a16="http://schemas.microsoft.com/office/drawing/2014/main" id="{7AE48E87-EA9E-CB5B-864B-F1EE39E31C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66DA15-46E6-78F4-8D42-3C353A75D1AE}"/>
              </a:ext>
            </a:extLst>
          </p:cNvPr>
          <p:cNvSpPr>
            <a:spLocks noGrp="1"/>
          </p:cNvSpPr>
          <p:nvPr>
            <p:ph type="sldNum" sz="quarter" idx="12"/>
          </p:nvPr>
        </p:nvSpPr>
        <p:spPr/>
        <p:txBody>
          <a:bodyPr/>
          <a:lstStyle/>
          <a:p>
            <a:fld id="{E071C0BD-7B01-4510-B01E-A634E602D359}" type="slidenum">
              <a:rPr lang="en-GB" smtClean="0"/>
              <a:t>‹#›</a:t>
            </a:fld>
            <a:endParaRPr lang="en-GB"/>
          </a:p>
        </p:txBody>
      </p:sp>
    </p:spTree>
    <p:extLst>
      <p:ext uri="{BB962C8B-B14F-4D97-AF65-F5344CB8AC3E}">
        <p14:creationId xmlns:p14="http://schemas.microsoft.com/office/powerpoint/2010/main" val="1464103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E8CBC2-355E-8E00-C362-074920C52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14BD80F-DAAC-6D38-9856-7B3E08C26B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6ED4A4-0265-91B5-F54F-CB13DD5D23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766BA-CADC-4A70-8D82-10186D870AF0}" type="datetimeFigureOut">
              <a:rPr lang="en-GB" smtClean="0"/>
              <a:t>28/12/2024</a:t>
            </a:fld>
            <a:endParaRPr lang="en-GB"/>
          </a:p>
        </p:txBody>
      </p:sp>
      <p:sp>
        <p:nvSpPr>
          <p:cNvPr id="5" name="Footer Placeholder 4">
            <a:extLst>
              <a:ext uri="{FF2B5EF4-FFF2-40B4-BE49-F238E27FC236}">
                <a16:creationId xmlns:a16="http://schemas.microsoft.com/office/drawing/2014/main" id="{032F26CD-E19F-4A4F-0083-BC76D4D4D6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9F4B533C-24D3-3F18-DAA9-50E0323A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71C0BD-7B01-4510-B01E-A634E602D359}" type="slidenum">
              <a:rPr lang="en-GB" smtClean="0"/>
              <a:t>‹#›</a:t>
            </a:fld>
            <a:endParaRPr lang="en-GB"/>
          </a:p>
        </p:txBody>
      </p:sp>
    </p:spTree>
    <p:extLst>
      <p:ext uri="{BB962C8B-B14F-4D97-AF65-F5344CB8AC3E}">
        <p14:creationId xmlns:p14="http://schemas.microsoft.com/office/powerpoint/2010/main" val="1418363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mailto:dhcft.derbyshiresat@nhs.net" TargetMode="External"/><Relationship Id="rId1" Type="http://schemas.openxmlformats.org/officeDocument/2006/relationships/slideLayout" Target="../slideLayouts/slideLayout1.xml"/><Relationship Id="rId5" Type="http://schemas.openxmlformats.org/officeDocument/2006/relationships/image" Target="../media/image2.emf"/><Relationship Id="rId4" Type="http://schemas.openxmlformats.org/officeDocument/2006/relationships/package" Target="../embeddings/Microsoft_Word_Document.docx"/></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7AB84D2-264D-684E-5FB6-8FA63D23A1AB}"/>
              </a:ext>
            </a:extLst>
          </p:cNvPr>
          <p:cNvSpPr txBox="1"/>
          <p:nvPr/>
        </p:nvSpPr>
        <p:spPr>
          <a:xfrm>
            <a:off x="529389" y="385011"/>
            <a:ext cx="5580182" cy="400110"/>
          </a:xfrm>
          <a:prstGeom prst="rect">
            <a:avLst/>
          </a:prstGeom>
          <a:noFill/>
        </p:spPr>
        <p:txBody>
          <a:bodyPr wrap="none" rtlCol="0">
            <a:spAutoFit/>
          </a:bodyPr>
          <a:lstStyle/>
          <a:p>
            <a:r>
              <a:rPr lang="en-GB" sz="2000" b="1" u="sng" dirty="0"/>
              <a:t>Specialist Autism Team hospital discharge pathway</a:t>
            </a:r>
          </a:p>
        </p:txBody>
      </p:sp>
      <p:sp>
        <p:nvSpPr>
          <p:cNvPr id="5" name="TextBox 4">
            <a:extLst>
              <a:ext uri="{FF2B5EF4-FFF2-40B4-BE49-F238E27FC236}">
                <a16:creationId xmlns:a16="http://schemas.microsoft.com/office/drawing/2014/main" id="{D0A8E6EF-25F8-8ACD-4014-A4354B53A206}"/>
              </a:ext>
            </a:extLst>
          </p:cNvPr>
          <p:cNvSpPr txBox="1"/>
          <p:nvPr/>
        </p:nvSpPr>
        <p:spPr>
          <a:xfrm>
            <a:off x="499805" y="895150"/>
            <a:ext cx="10116151" cy="4801314"/>
          </a:xfrm>
          <a:prstGeom prst="rect">
            <a:avLst/>
          </a:prstGeom>
          <a:noFill/>
        </p:spPr>
        <p:txBody>
          <a:bodyPr wrap="square" rtlCol="0">
            <a:spAutoFit/>
          </a:bodyPr>
          <a:lstStyle/>
          <a:p>
            <a:pPr marL="285750" indent="-285750">
              <a:buFont typeface="Arial" panose="020B0604020202020204" pitchFamily="34" charset="0"/>
              <a:buChar char="•"/>
            </a:pPr>
            <a:r>
              <a:rPr lang="en-GB" dirty="0"/>
              <a:t>The Specialist Autism Team (SAT) offer a hospital discharge pathway for in-patients, with an Autism diagnosis, transitioning from AMH wards to community.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If this pathway is required, the patient </a:t>
            </a:r>
            <a:r>
              <a:rPr lang="en-GB" u="sng" dirty="0"/>
              <a:t>will need to consent </a:t>
            </a:r>
            <a:r>
              <a:rPr lang="en-GB" dirty="0"/>
              <a:t>to working with SAT. Once consent is gained a referral can be made on System One using the “refer to LD SPOA” button, see overleaf.  This referral should be made two weeks before discharge. Once the referral is received SAT will attend the ward rounds. All that is needed on the referral is a brief sentence such as “We have spoken to the patient, and they have given verbal consent to work with SAT. Please accept this referral for the discharge pathway”</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SAT can pick up patients two weeks before discharge, so once the referral has been made, please send ward round invites ward rounds to </a:t>
            </a:r>
            <a:r>
              <a:rPr lang="en-GB" dirty="0">
                <a:hlinkClick r:id="rId2"/>
              </a:rPr>
              <a:t>dhcft.derbyshiresat@nhs.net</a:t>
            </a:r>
            <a:r>
              <a:rPr lang="en-GB" dirty="0"/>
              <a:t> and a team member will attend.</a:t>
            </a:r>
          </a:p>
          <a:p>
            <a:endParaRPr lang="en-GB" dirty="0"/>
          </a:p>
          <a:p>
            <a:pPr marL="285750" indent="-285750">
              <a:buFont typeface="Arial" panose="020B0604020202020204" pitchFamily="34" charset="0"/>
              <a:buChar char="•"/>
            </a:pPr>
            <a:r>
              <a:rPr lang="en-GB" dirty="0"/>
              <a:t>Please see the information leaflet below which can be given to the patient to explain SAT’s role and help inform consent. For any queries, please email on the above address or telephone 01246 565062 or 07867 286458.</a:t>
            </a:r>
          </a:p>
          <a:p>
            <a:endParaRPr lang="en-GB" dirty="0"/>
          </a:p>
        </p:txBody>
      </p:sp>
      <p:pic>
        <p:nvPicPr>
          <p:cNvPr id="6" name="Picture 5">
            <a:extLst>
              <a:ext uri="{FF2B5EF4-FFF2-40B4-BE49-F238E27FC236}">
                <a16:creationId xmlns:a16="http://schemas.microsoft.com/office/drawing/2014/main" id="{0EA24F5D-B976-86AD-DBC3-E62E6A5FAC5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35344" y="120216"/>
            <a:ext cx="3510280" cy="529590"/>
          </a:xfrm>
          <a:prstGeom prst="rect">
            <a:avLst/>
          </a:prstGeom>
          <a:noFill/>
          <a:ln>
            <a:noFill/>
          </a:ln>
        </p:spPr>
      </p:pic>
      <p:graphicFrame>
        <p:nvGraphicFramePr>
          <p:cNvPr id="8" name="Object 7">
            <a:extLst>
              <a:ext uri="{FF2B5EF4-FFF2-40B4-BE49-F238E27FC236}">
                <a16:creationId xmlns:a16="http://schemas.microsoft.com/office/drawing/2014/main" id="{603E1982-120B-1FE8-B1A3-BF5F9BB6B86C}"/>
              </a:ext>
            </a:extLst>
          </p:cNvPr>
          <p:cNvGraphicFramePr>
            <a:graphicFrameLocks noChangeAspect="1"/>
          </p:cNvGraphicFramePr>
          <p:nvPr>
            <p:extLst>
              <p:ext uri="{D42A27DB-BD31-4B8C-83A1-F6EECF244321}">
                <p14:modId xmlns:p14="http://schemas.microsoft.com/office/powerpoint/2010/main" val="308424407"/>
              </p:ext>
            </p:extLst>
          </p:nvPr>
        </p:nvGraphicFramePr>
        <p:xfrm>
          <a:off x="5127765" y="5339063"/>
          <a:ext cx="1634949" cy="1441934"/>
        </p:xfrm>
        <a:graphic>
          <a:graphicData uri="http://schemas.openxmlformats.org/presentationml/2006/ole">
            <mc:AlternateContent xmlns:mc="http://schemas.openxmlformats.org/markup-compatibility/2006">
              <mc:Choice xmlns:v="urn:schemas-microsoft-com:vml" Requires="v">
                <p:oleObj name="Document" showAsIcon="1" r:id="rId4" imgW="914597" imgH="806406" progId="Word.Document.12">
                  <p:embed/>
                </p:oleObj>
              </mc:Choice>
              <mc:Fallback>
                <p:oleObj name="Document" showAsIcon="1" r:id="rId4" imgW="914597" imgH="806406" progId="Word.Document.12">
                  <p:embed/>
                  <p:pic>
                    <p:nvPicPr>
                      <p:cNvPr id="8" name="Object 7">
                        <a:extLst>
                          <a:ext uri="{FF2B5EF4-FFF2-40B4-BE49-F238E27FC236}">
                            <a16:creationId xmlns:a16="http://schemas.microsoft.com/office/drawing/2014/main" id="{603E1982-120B-1FE8-B1A3-BF5F9BB6B86C}"/>
                          </a:ext>
                        </a:extLst>
                      </p:cNvPr>
                      <p:cNvPicPr/>
                      <p:nvPr/>
                    </p:nvPicPr>
                    <p:blipFill>
                      <a:blip r:embed="rId5"/>
                      <a:stretch>
                        <a:fillRect/>
                      </a:stretch>
                    </p:blipFill>
                    <p:spPr>
                      <a:xfrm>
                        <a:off x="5127765" y="5339063"/>
                        <a:ext cx="1634949" cy="1441934"/>
                      </a:xfrm>
                      <a:prstGeom prst="rect">
                        <a:avLst/>
                      </a:prstGeom>
                    </p:spPr>
                  </p:pic>
                </p:oleObj>
              </mc:Fallback>
            </mc:AlternateContent>
          </a:graphicData>
        </a:graphic>
      </p:graphicFrame>
    </p:spTree>
    <p:extLst>
      <p:ext uri="{BB962C8B-B14F-4D97-AF65-F5344CB8AC3E}">
        <p14:creationId xmlns:p14="http://schemas.microsoft.com/office/powerpoint/2010/main" val="16499600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0819D6C-A5E4-B5C0-CE6D-1928E476F58C}"/>
              </a:ext>
            </a:extLst>
          </p:cNvPr>
          <p:cNvGrpSpPr/>
          <p:nvPr/>
        </p:nvGrpSpPr>
        <p:grpSpPr>
          <a:xfrm>
            <a:off x="956852" y="1544231"/>
            <a:ext cx="9698314" cy="4654438"/>
            <a:chOff x="1130106" y="495078"/>
            <a:chExt cx="9091922" cy="4125047"/>
          </a:xfrm>
        </p:grpSpPr>
        <p:pic>
          <p:nvPicPr>
            <p:cNvPr id="3" name="Picture 2">
              <a:extLst>
                <a:ext uri="{FF2B5EF4-FFF2-40B4-BE49-F238E27FC236}">
                  <a16:creationId xmlns:a16="http://schemas.microsoft.com/office/drawing/2014/main" id="{C6AF11C7-EA97-C0FE-7DC3-FB47927F4AFA}"/>
                </a:ext>
              </a:extLst>
            </p:cNvPr>
            <p:cNvPicPr>
              <a:picLocks noChangeAspect="1"/>
            </p:cNvPicPr>
            <p:nvPr/>
          </p:nvPicPr>
          <p:blipFill>
            <a:blip r:embed="rId2"/>
            <a:stretch>
              <a:fillRect/>
            </a:stretch>
          </p:blipFill>
          <p:spPr>
            <a:xfrm>
              <a:off x="1130106" y="497840"/>
              <a:ext cx="4250415" cy="3869026"/>
            </a:xfrm>
            <a:prstGeom prst="rect">
              <a:avLst/>
            </a:prstGeom>
          </p:spPr>
        </p:pic>
        <p:sp>
          <p:nvSpPr>
            <p:cNvPr id="4" name="Oval 3">
              <a:extLst>
                <a:ext uri="{FF2B5EF4-FFF2-40B4-BE49-F238E27FC236}">
                  <a16:creationId xmlns:a16="http://schemas.microsoft.com/office/drawing/2014/main" id="{0E6E5F1F-C1C0-5B68-D00A-69148B3E2BFF}"/>
                </a:ext>
              </a:extLst>
            </p:cNvPr>
            <p:cNvSpPr/>
            <p:nvPr/>
          </p:nvSpPr>
          <p:spPr>
            <a:xfrm>
              <a:off x="3782728" y="3936732"/>
              <a:ext cx="1684421" cy="683393"/>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Arrow: Right 4">
              <a:extLst>
                <a:ext uri="{FF2B5EF4-FFF2-40B4-BE49-F238E27FC236}">
                  <a16:creationId xmlns:a16="http://schemas.microsoft.com/office/drawing/2014/main" id="{C0441135-26CD-7DE8-AC7F-1F5E6010B07A}"/>
                </a:ext>
              </a:extLst>
            </p:cNvPr>
            <p:cNvSpPr/>
            <p:nvPr/>
          </p:nvSpPr>
          <p:spPr>
            <a:xfrm>
              <a:off x="5592274" y="4023358"/>
              <a:ext cx="721895" cy="5101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8913C04A-30CD-3AF9-C4F4-3B163B11A51D}"/>
                </a:ext>
              </a:extLst>
            </p:cNvPr>
            <p:cNvPicPr>
              <a:picLocks noChangeAspect="1"/>
            </p:cNvPicPr>
            <p:nvPr/>
          </p:nvPicPr>
          <p:blipFill>
            <a:blip r:embed="rId3"/>
            <a:stretch>
              <a:fillRect/>
            </a:stretch>
          </p:blipFill>
          <p:spPr>
            <a:xfrm>
              <a:off x="6400797" y="495078"/>
              <a:ext cx="3821231" cy="3871788"/>
            </a:xfrm>
            <a:prstGeom prst="rect">
              <a:avLst/>
            </a:prstGeom>
          </p:spPr>
        </p:pic>
        <p:sp>
          <p:nvSpPr>
            <p:cNvPr id="8" name="Oval 7">
              <a:extLst>
                <a:ext uri="{FF2B5EF4-FFF2-40B4-BE49-F238E27FC236}">
                  <a16:creationId xmlns:a16="http://schemas.microsoft.com/office/drawing/2014/main" id="{8DB16C79-D417-3B68-95D7-38A6BFFC998C}"/>
                </a:ext>
              </a:extLst>
            </p:cNvPr>
            <p:cNvSpPr/>
            <p:nvPr/>
          </p:nvSpPr>
          <p:spPr>
            <a:xfrm>
              <a:off x="8388415" y="4071484"/>
              <a:ext cx="1684421" cy="413887"/>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0" name="TextBox 9">
            <a:extLst>
              <a:ext uri="{FF2B5EF4-FFF2-40B4-BE49-F238E27FC236}">
                <a16:creationId xmlns:a16="http://schemas.microsoft.com/office/drawing/2014/main" id="{1C455B39-767A-C43D-F300-937984E2C433}"/>
              </a:ext>
            </a:extLst>
          </p:cNvPr>
          <p:cNvSpPr txBox="1"/>
          <p:nvPr/>
        </p:nvSpPr>
        <p:spPr>
          <a:xfrm>
            <a:off x="529389" y="385011"/>
            <a:ext cx="5652638" cy="400110"/>
          </a:xfrm>
          <a:prstGeom prst="rect">
            <a:avLst/>
          </a:prstGeom>
          <a:noFill/>
        </p:spPr>
        <p:txBody>
          <a:bodyPr wrap="none" rtlCol="0">
            <a:spAutoFit/>
          </a:bodyPr>
          <a:lstStyle/>
          <a:p>
            <a:r>
              <a:rPr lang="en-GB" sz="2000" b="1" u="sng" dirty="0"/>
              <a:t>Specialist Autism Team System One referral process</a:t>
            </a:r>
          </a:p>
        </p:txBody>
      </p:sp>
      <p:pic>
        <p:nvPicPr>
          <p:cNvPr id="11" name="Picture 10">
            <a:extLst>
              <a:ext uri="{FF2B5EF4-FFF2-40B4-BE49-F238E27FC236}">
                <a16:creationId xmlns:a16="http://schemas.microsoft.com/office/drawing/2014/main" id="{4A3CC681-C275-4FC4-30C3-8BF83C56C1E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35344" y="120216"/>
            <a:ext cx="3510280" cy="529590"/>
          </a:xfrm>
          <a:prstGeom prst="rect">
            <a:avLst/>
          </a:prstGeom>
          <a:noFill/>
          <a:ln>
            <a:noFill/>
          </a:ln>
        </p:spPr>
      </p:pic>
      <p:sp>
        <p:nvSpPr>
          <p:cNvPr id="12" name="TextBox 11">
            <a:extLst>
              <a:ext uri="{FF2B5EF4-FFF2-40B4-BE49-F238E27FC236}">
                <a16:creationId xmlns:a16="http://schemas.microsoft.com/office/drawing/2014/main" id="{08473E98-F965-B290-42D2-BE6420184F05}"/>
              </a:ext>
            </a:extLst>
          </p:cNvPr>
          <p:cNvSpPr txBox="1"/>
          <p:nvPr/>
        </p:nvSpPr>
        <p:spPr>
          <a:xfrm>
            <a:off x="529389" y="889137"/>
            <a:ext cx="8681988" cy="369332"/>
          </a:xfrm>
          <a:prstGeom prst="rect">
            <a:avLst/>
          </a:prstGeom>
          <a:noFill/>
        </p:spPr>
        <p:txBody>
          <a:bodyPr wrap="square" rtlCol="0">
            <a:spAutoFit/>
          </a:bodyPr>
          <a:lstStyle/>
          <a:p>
            <a:r>
              <a:rPr lang="en-GB" dirty="0"/>
              <a:t>To refer to SAT use the Inpatient launch pad and click the following links.</a:t>
            </a:r>
          </a:p>
        </p:txBody>
      </p:sp>
    </p:spTree>
    <p:extLst>
      <p:ext uri="{BB962C8B-B14F-4D97-AF65-F5344CB8AC3E}">
        <p14:creationId xmlns:p14="http://schemas.microsoft.com/office/powerpoint/2010/main" val="3697871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7c354b2-85b0-47f5-b222-07b48d774ee3}" enabled="0" method="" siteId="{37c354b2-85b0-47f5-b222-07b48d774ee3}" removed="1"/>
</clbl:labelList>
</file>

<file path=docProps/app.xml><?xml version="1.0" encoding="utf-8"?>
<Properties xmlns="http://schemas.openxmlformats.org/officeDocument/2006/extended-properties" xmlns:vt="http://schemas.openxmlformats.org/officeDocument/2006/docPropsVTypes">
  <TotalTime>522</TotalTime>
  <Words>240</Words>
  <Application>Microsoft Office PowerPoint</Application>
  <PresentationFormat>Widescreen</PresentationFormat>
  <Paragraphs>10</Paragraphs>
  <Slides>2</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2</vt:i4>
      </vt:variant>
    </vt:vector>
  </HeadingPairs>
  <TitlesOfParts>
    <vt:vector size="7" baseType="lpstr">
      <vt:lpstr>Arial</vt:lpstr>
      <vt:lpstr>Calibri</vt:lpstr>
      <vt:lpstr>Calibri Light</vt:lpstr>
      <vt:lpstr>Office Theme</vt:lpstr>
      <vt:lpstr>Document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WRIGHT, Andrew (DERBYSHIRE HEALTHCARE NHS FOUNDATION TRUST)</dc:creator>
  <cp:lastModifiedBy>SHARPE, Michael (DERBYSHIRE HEALTHCARE NHS FOUNDATION TRUST)</cp:lastModifiedBy>
  <cp:revision>3</cp:revision>
  <dcterms:created xsi:type="dcterms:W3CDTF">2024-12-12T09:32:02Z</dcterms:created>
  <dcterms:modified xsi:type="dcterms:W3CDTF">2024-12-28T02:40:44Z</dcterms:modified>
</cp:coreProperties>
</file>