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Evening everyone, I'm Mike. I run shifts as nurse in charge on one of our acute wards. wardHub is a tool I built in my own time, on the ward, because I was fed up watching good staff lose time hunting for things they need right now. Ten minutes from me, and at the end it's live on your own phone if you want a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new starter, ten past three in the morning, patient in seclusion. She needs the SOP. Is it on the intranet? A red folder? Ask the nurse next to her, who is on a break? That hunt is real, it happens every shift, and the version she eventually finds might be three years out of date. That is the whole problem wardHub exists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wardHub is one website with everything on it. Sixty-four guides, a training quiz, all the links the ward actually uses, and a map of local services. Those numbers are real, we counted them in the code this month, not off a brochure. And everything you will see today runs on made-up patients on made-up 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advocacy referral. It walks you through step by step. Checks the criteria first, branches for city or county because the providers differ, hands you the form and a worked example, tells you exactly where to send it. Then the bit staff love: it writes the case note for you. Copy, paste straight into SystmOne. The paperwork stops being the reason a referral does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quiz has 364 questions and every single one carries its source: NICE, the BNF, the Mental Health Act code, NMC guidance. Get one wrong and it tells you why, with the reference. There is no score kept and nobody watching, which is exactly why people use it on quiet nights. I am still proofreading the bank myself, so it is flagged as draft in the app, honestly labelled like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pieces. The diary is the ward's shared to-do list: anyone can claim a task, hand it over, and nothing falls down the gap between shifts. The service map answers 'who will actually take this person', filtered by where they live and their needs. Both run on fictional demo data today, and the map's criteria are marked as needing clinical verification. Again: labelled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guide and every link carries a traffic light on its tile. Green means signed off. Amber means awaiting approval, and that is the default, nothing sneaks in as approved. Red means still in development and says so. Right now most of the content sits at amber or red, deliberately, because clinical sign-off is exactly what I am here to ask the trust to help with. The review process is on the page, in front of the staff using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want you to remember. There is no patient data in wardHub. Nothing anyone types ever leaves their own computer. No accounts, no tracking, no analytics, and the fonts are self-hosted so there is not even a font request going out. It is not a promise, it is enforced: the security policy means the browser physically refuses to talk to any other server. A line-by-line audit went through the code and the live site this week, and the claim 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did not want to turn up asking the trust to do my paperwork. So it is written. A DPIA draft in the ICO's own structure, a clinical safety hazard log against DCB0129, a security review, an accessibility statement, a full data governance audit, and a rebuild pack that prices up the hosting options. All of it is honest about what is outstanding. It needs trust eyes and trust signatures. It does not need writing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wardHub does not compete with the clinical record and never will. SystmOne is the record. wardHub is the layer that helps staff do the job, then hands them a better-written entry to paste into SystmOne. Copy out, paste in. That is the whole relationship, and it is why this can be useful on day one without touching a single clinical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so far to the trust: nothing. I built it in my own time and the hosting is pennies a month. I am not here asking for budget, and I am not selling anything. What I need is some people's time to review what is already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asks, none of them expensive. One: a named IG or clinical safety contact to go through the pack with me, a few hours of someone's time. Two: a pilot on one ward, mine, with the version that holds no patient data at all. Three: a decision path for moving the hosting inside the trust. That is the whole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trust says yes, the sensible order is: trust logins first, then hosting inside the trust boundary, then the SystmOne link, then a proper contacts directory. Each step waits for its own sign-off. I would rather do this slowly and properly than quickly and badly, and the guides are useful to staff before any of it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ten minutes. wardhub.live works right now on the phone in your pocket, all fictional data, so have a poke around tonight. I am happy to do a live walkthrough now, or come and demo it to any of your teams.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48640" y="1051560"/>
            <a:ext cx="4114800" cy="91440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wardHub</a:t>
            </a:r>
            <a:endParaRPr lang="en-US" sz="5800" dirty="0"/>
          </a:p>
        </p:txBody>
      </p:sp>
      <p:sp>
        <p:nvSpPr>
          <p:cNvPr id="3" name="Text 1"/>
          <p:cNvSpPr/>
          <p:nvPr/>
        </p:nvSpPr>
        <p:spPr>
          <a:xfrm>
            <a:off x="548640" y="2057400"/>
            <a:ext cx="4023360" cy="777240"/>
          </a:xfrm>
          <a:prstGeom prst="rect">
            <a:avLst/>
          </a:prstGeom>
          <a:noFill/>
          <a:ln/>
        </p:spPr>
        <p:txBody>
          <a:bodyPr wrap="square" lIns="0" tIns="0" rIns="0" bIns="0" rtlCol="0" anchor="ctr"/>
          <a:lstStyle/>
          <a:p>
            <a:pPr indent="0" marL="0">
              <a:buNone/>
            </a:pPr>
            <a:r>
              <a:rPr lang="en-US" sz="1900" dirty="0">
                <a:solidFill>
                  <a:srgbClr val="FFFFFF"/>
                </a:solidFill>
                <a:latin typeface="Arial" pitchFamily="34" charset="0"/>
                <a:ea typeface="Arial" pitchFamily="34" charset="-122"/>
                <a:cs typeface="Arial" pitchFamily="34" charset="-120"/>
              </a:rPr>
              <a:t>One place for everything the ward needs.</a:t>
            </a:r>
            <a:endParaRPr lang="en-US" sz="1900" dirty="0"/>
          </a:p>
        </p:txBody>
      </p:sp>
      <p:sp>
        <p:nvSpPr>
          <p:cNvPr id="4" name="Text 2"/>
          <p:cNvSpPr/>
          <p:nvPr/>
        </p:nvSpPr>
        <p:spPr>
          <a:xfrm>
            <a:off x="548640" y="2834640"/>
            <a:ext cx="4023360" cy="457200"/>
          </a:xfrm>
          <a:prstGeom prst="rect">
            <a:avLst/>
          </a:prstGeom>
          <a:noFill/>
          <a:ln/>
        </p:spPr>
        <p:txBody>
          <a:bodyPr wrap="square" lIns="0" tIns="0" rIns="0" bIns="0" rtlCol="0" anchor="ctr"/>
          <a:lstStyle/>
          <a:p>
            <a:pPr indent="0" marL="0">
              <a:buNone/>
            </a:pPr>
            <a:r>
              <a:rPr lang="en-US" sz="1600" i="1" dirty="0">
                <a:solidFill>
                  <a:srgbClr val="41B6E6"/>
                </a:solidFill>
                <a:latin typeface="Arial" pitchFamily="34" charset="0"/>
                <a:ea typeface="Arial" pitchFamily="34" charset="-122"/>
                <a:cs typeface="Arial" pitchFamily="34" charset="-120"/>
              </a:rPr>
              <a:t>Built by a nurse, for nurses.</a:t>
            </a:r>
            <a:endParaRPr lang="en-US" sz="1600" dirty="0"/>
          </a:p>
        </p:txBody>
      </p:sp>
      <p:sp>
        <p:nvSpPr>
          <p:cNvPr id="5" name="Text 3"/>
          <p:cNvSpPr/>
          <p:nvPr/>
        </p:nvSpPr>
        <p:spPr>
          <a:xfrm>
            <a:off x="548640" y="3977640"/>
            <a:ext cx="4023360" cy="914400"/>
          </a:xfrm>
          <a:prstGeom prst="rect">
            <a:avLst/>
          </a:prstGeom>
          <a:noFill/>
          <a:ln/>
        </p:spPr>
        <p:txBody>
          <a:bodyPr wrap="square" lIns="0" tIns="0" rIns="0" bIns="0" rtlCol="0" anchor="ctr"/>
          <a:lstStyle/>
          <a:p>
            <a:pPr indent="0" marL="0">
              <a:lnSpc>
                <a:spcPct val="125000"/>
              </a:lnSpc>
              <a:buNone/>
            </a:pPr>
            <a:r>
              <a:rPr lang="en-US" sz="1200" dirty="0">
                <a:solidFill>
                  <a:srgbClr val="B7CDE8"/>
                </a:solidFill>
                <a:latin typeface="Arial" pitchFamily="34" charset="0"/>
                <a:ea typeface="Arial" pitchFamily="34" charset="-122"/>
                <a:cs typeface="Arial" pitchFamily="34" charset="-120"/>
              </a:rPr>
              <a:t>Mike Sharpe  ·  Ward nurse in charge</a:t>
            </a:r>
            <a:endParaRPr lang="en-US" sz="1200" dirty="0"/>
          </a:p>
          <a:p>
            <a:pPr indent="0" marL="0">
              <a:lnSpc>
                <a:spcPct val="125000"/>
              </a:lnSpc>
              <a:buNone/>
            </a:pPr>
            <a:r>
              <a:rPr lang="en-US" sz="1200" dirty="0">
                <a:solidFill>
                  <a:srgbClr val="B7CDE8"/>
                </a:solidFill>
                <a:latin typeface="Arial" pitchFamily="34" charset="0"/>
                <a:ea typeface="Arial" pitchFamily="34" charset="-122"/>
                <a:cs typeface="Arial" pitchFamily="34" charset="-120"/>
              </a:rPr>
              <a:t>Derbyshire Healthcare NHS Foundation Trust</a:t>
            </a:r>
            <a:endParaRPr lang="en-US" sz="1200" dirty="0"/>
          </a:p>
          <a:p>
            <a:pPr indent="0" marL="0">
              <a:lnSpc>
                <a:spcPct val="125000"/>
              </a:lnSpc>
              <a:buNone/>
            </a:pPr>
            <a:r>
              <a:rPr lang="en-US" sz="1200" b="1" dirty="0">
                <a:solidFill>
                  <a:srgbClr val="FFFFFF"/>
                </a:solidFill>
                <a:latin typeface="Arial" pitchFamily="34" charset="0"/>
                <a:ea typeface="Arial" pitchFamily="34" charset="-122"/>
                <a:cs typeface="Arial" pitchFamily="34" charset="-120"/>
              </a:rPr>
              <a:t>www.wardhub.live</a:t>
            </a:r>
            <a:endParaRPr lang="en-US" sz="1200" dirty="0"/>
          </a:p>
        </p:txBody>
      </p:sp>
      <p:pic>
        <p:nvPicPr>
          <p:cNvPr id="6" name="Image 0" descr="wardHub home page">    </p:cNvPr>
          <p:cNvPicPr>
            <a:picLocks noChangeAspect="1"/>
          </p:cNvPicPr>
          <p:nvPr/>
        </p:nvPicPr>
        <p:blipFill>
          <a:blip r:embed="rId1"/>
          <a:stretch>
            <a:fillRect/>
          </a:stretch>
        </p:blipFill>
        <p:spPr>
          <a:xfrm>
            <a:off x="4709160" y="1279017"/>
            <a:ext cx="3977640" cy="2585466"/>
          </a:xfrm>
          <a:prstGeom prst="rect">
            <a:avLst/>
          </a:prstGeom>
          <a:effectLst>
            <a:outerShdw sx="100000" sy="100000" kx="0" ky="0" algn="bl" rotWithShape="0" blurRad="88900" dist="25400" dir="27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Ten past three in the morning</a:t>
            </a:r>
            <a:endParaRPr lang="en-US" sz="2800" dirty="0"/>
          </a:p>
        </p:txBody>
      </p:sp>
      <p:sp>
        <p:nvSpPr>
          <p:cNvPr id="3" name="Text 1"/>
          <p:cNvSpPr/>
          <p:nvPr/>
        </p:nvSpPr>
        <p:spPr>
          <a:xfrm>
            <a:off x="502920" y="1234440"/>
            <a:ext cx="3429000" cy="2651760"/>
          </a:xfrm>
          <a:prstGeom prst="rect">
            <a:avLst/>
          </a:prstGeom>
          <a:noFill/>
          <a:ln/>
        </p:spPr>
        <p:txBody>
          <a:bodyPr wrap="square" lIns="0" tIns="0" rIns="0" bIns="0" rtlCol="0" anchor="ctr"/>
          <a:lstStyle/>
          <a:p>
            <a:pPr indent="0" marL="0">
              <a:lnSpc>
                <a:spcPct val="110000"/>
              </a:lnSpc>
              <a:buNone/>
            </a:pPr>
            <a:r>
              <a:rPr lang="en-US" sz="1500" b="1" dirty="0">
                <a:solidFill>
                  <a:srgbClr val="212B32"/>
                </a:solidFill>
                <a:latin typeface="Arial" pitchFamily="34" charset="0"/>
                <a:ea typeface="Arial" pitchFamily="34" charset="-122"/>
                <a:cs typeface="Arial" pitchFamily="34" charset="-120"/>
              </a:rPr>
              <a:t>A new starter needs the seclusion SOP. Now.</a:t>
            </a:r>
            <a:endParaRPr lang="en-US" sz="1500" dirty="0"/>
          </a:p>
          <a:p>
            <a:pPr indent="0" marL="0">
              <a:lnSpc>
                <a:spcPct val="110000"/>
              </a:lnSpc>
              <a:buNone/>
            </a:pPr>
            <a:endParaRPr lang="en-US" sz="1500" dirty="0"/>
          </a:p>
          <a:p>
            <a:pPr indent="0" marL="0">
              <a:lnSpc>
                <a:spcPct val="110000"/>
              </a:lnSpc>
              <a:buNone/>
            </a:pPr>
            <a:r>
              <a:rPr lang="en-US" sz="1300" dirty="0">
                <a:solidFill>
                  <a:srgbClr val="425563"/>
                </a:solidFill>
                <a:latin typeface="Arial" pitchFamily="34" charset="0"/>
                <a:ea typeface="Arial" pitchFamily="34" charset="-122"/>
                <a:cs typeface="Arial" pitchFamily="34" charset="-120"/>
              </a:rPr>
              <a:t>Is it on the intranet? In a red folder in the office? Does the nurse next to her know it by heart, and is her memory of it current?</a:t>
            </a:r>
            <a:endParaRPr lang="en-US" sz="1500" dirty="0"/>
          </a:p>
          <a:p>
            <a:pPr indent="0" marL="0">
              <a:lnSpc>
                <a:spcPct val="110000"/>
              </a:lnSpc>
              <a:buNone/>
            </a:pPr>
            <a:endParaRPr lang="en-US" sz="1500" dirty="0"/>
          </a:p>
          <a:p>
            <a:pPr indent="0" marL="0">
              <a:lnSpc>
                <a:spcPct val="110000"/>
              </a:lnSpc>
              <a:buNone/>
            </a:pPr>
            <a:r>
              <a:rPr lang="en-US" sz="1300" dirty="0">
                <a:solidFill>
                  <a:srgbClr val="425563"/>
                </a:solidFill>
                <a:latin typeface="Arial" pitchFamily="34" charset="0"/>
                <a:ea typeface="Arial" pitchFamily="34" charset="-122"/>
                <a:cs typeface="Arial" pitchFamily="34" charset="-120"/>
              </a:rPr>
              <a:t>That hunt happens on every shift, for every kind of task. Referral forms, section paperwork, service phone numbers, ward routines.</a:t>
            </a:r>
            <a:endParaRPr lang="en-US" sz="1500" dirty="0"/>
          </a:p>
        </p:txBody>
      </p:sp>
      <p:sp>
        <p:nvSpPr>
          <p:cNvPr id="4" name="Text 2"/>
          <p:cNvSpPr/>
          <p:nvPr/>
        </p:nvSpPr>
        <p:spPr>
          <a:xfrm>
            <a:off x="502920" y="4160520"/>
            <a:ext cx="3566160" cy="640080"/>
          </a:xfrm>
          <a:prstGeom prst="rect">
            <a:avLst/>
          </a:prstGeom>
          <a:noFill/>
          <a:ln/>
        </p:spPr>
        <p:txBody>
          <a:bodyPr wrap="square" lIns="0" tIns="0" rIns="0" bIns="0" rtlCol="0" anchor="ctr"/>
          <a:lstStyle/>
          <a:p>
            <a:pPr indent="0" marL="0">
              <a:buNone/>
            </a:pPr>
            <a:r>
              <a:rPr lang="en-US" sz="1400" b="1" dirty="0">
                <a:solidFill>
                  <a:srgbClr val="DA291C"/>
                </a:solidFill>
                <a:latin typeface="Arial" pitchFamily="34" charset="0"/>
                <a:ea typeface="Arial" pitchFamily="34" charset="-122"/>
                <a:cs typeface="Arial" pitchFamily="34" charset="-120"/>
              </a:rPr>
              <a:t>Time lost hunting. Risk of acting on stale guidance.</a:t>
            </a:r>
            <a:endParaRPr lang="en-US" sz="1400" dirty="0"/>
          </a:p>
        </p:txBody>
      </p:sp>
      <p:sp>
        <p:nvSpPr>
          <p:cNvPr id="5" name="Shape 3"/>
          <p:cNvSpPr/>
          <p:nvPr/>
        </p:nvSpPr>
        <p:spPr>
          <a:xfrm>
            <a:off x="5440680" y="1453896"/>
            <a:ext cx="1417320" cy="1353312"/>
          </a:xfrm>
          <a:prstGeom prst="line">
            <a:avLst/>
          </a:prstGeom>
          <a:noFill/>
          <a:ln w="15875">
            <a:solidFill>
              <a:srgbClr val="B7C4CC"/>
            </a:solidFill>
            <a:prstDash val="solid"/>
          </a:ln>
        </p:spPr>
      </p:sp>
      <p:sp>
        <p:nvSpPr>
          <p:cNvPr id="6" name="Shape 4"/>
          <p:cNvSpPr/>
          <p:nvPr/>
        </p:nvSpPr>
        <p:spPr>
          <a:xfrm flipV="1">
            <a:off x="6858000" y="1453896"/>
            <a:ext cx="868680" cy="1353312"/>
          </a:xfrm>
          <a:prstGeom prst="line">
            <a:avLst/>
          </a:prstGeom>
          <a:noFill/>
          <a:ln w="15875">
            <a:solidFill>
              <a:srgbClr val="B7C4CC"/>
            </a:solidFill>
            <a:prstDash val="solid"/>
          </a:ln>
        </p:spPr>
      </p:sp>
      <p:sp>
        <p:nvSpPr>
          <p:cNvPr id="7" name="Shape 5"/>
          <p:cNvSpPr/>
          <p:nvPr/>
        </p:nvSpPr>
        <p:spPr>
          <a:xfrm flipV="1">
            <a:off x="5440680" y="2807208"/>
            <a:ext cx="1417320" cy="1161288"/>
          </a:xfrm>
          <a:prstGeom prst="line">
            <a:avLst/>
          </a:prstGeom>
          <a:noFill/>
          <a:ln w="15875">
            <a:solidFill>
              <a:srgbClr val="B7C4CC"/>
            </a:solidFill>
            <a:prstDash val="solid"/>
          </a:ln>
        </p:spPr>
      </p:sp>
      <p:sp>
        <p:nvSpPr>
          <p:cNvPr id="8" name="Shape 6"/>
          <p:cNvSpPr/>
          <p:nvPr/>
        </p:nvSpPr>
        <p:spPr>
          <a:xfrm>
            <a:off x="6858000" y="2807208"/>
            <a:ext cx="868680" cy="1161288"/>
          </a:xfrm>
          <a:prstGeom prst="line">
            <a:avLst/>
          </a:prstGeom>
          <a:noFill/>
          <a:ln w="15875">
            <a:solidFill>
              <a:srgbClr val="B7C4CC"/>
            </a:solidFill>
            <a:prstDash val="solid"/>
          </a:ln>
        </p:spPr>
      </p:sp>
      <p:sp>
        <p:nvSpPr>
          <p:cNvPr id="9" name="Shape 7"/>
          <p:cNvSpPr/>
          <p:nvPr/>
        </p:nvSpPr>
        <p:spPr>
          <a:xfrm>
            <a:off x="4434840" y="1143000"/>
            <a:ext cx="2011680" cy="621792"/>
          </a:xfrm>
          <a:prstGeom prst="roundRect">
            <a:avLst>
              <a:gd name="adj" fmla="val 11765"/>
            </a:avLst>
          </a:prstGeom>
          <a:solidFill>
            <a:srgbClr val="E8EDEE"/>
          </a:solidFill>
          <a:ln w="12700">
            <a:solidFill>
              <a:srgbClr val="C7D2D8"/>
            </a:solidFill>
            <a:prstDash val="solid"/>
          </a:ln>
        </p:spPr>
      </p:sp>
      <p:sp>
        <p:nvSpPr>
          <p:cNvPr id="10" name="Text 8"/>
          <p:cNvSpPr/>
          <p:nvPr/>
        </p:nvSpPr>
        <p:spPr>
          <a:xfrm>
            <a:off x="4434840" y="1143000"/>
            <a:ext cx="2011680" cy="621792"/>
          </a:xfrm>
          <a:prstGeom prst="rect">
            <a:avLst/>
          </a:prstGeom>
          <a:noFill/>
          <a:ln/>
        </p:spPr>
        <p:txBody>
          <a:bodyPr wrap="square" lIns="0" tIns="0" rIns="0" bIns="0" rtlCol="0" anchor="ctr"/>
          <a:lstStyle/>
          <a:p>
            <a:pPr algn="ctr" indent="0" marL="0">
              <a:buNone/>
            </a:pPr>
            <a:r>
              <a:rPr lang="en-US" sz="1200" dirty="0">
                <a:solidFill>
                  <a:srgbClr val="425563"/>
                </a:solidFill>
                <a:latin typeface="Arial" pitchFamily="34" charset="0"/>
                <a:ea typeface="Arial" pitchFamily="34" charset="-122"/>
                <a:cs typeface="Arial" pitchFamily="34" charset="-120"/>
              </a:rPr>
              <a:t>The intranet</a:t>
            </a:r>
            <a:endParaRPr lang="en-US" sz="1200" dirty="0"/>
          </a:p>
        </p:txBody>
      </p:sp>
      <p:sp>
        <p:nvSpPr>
          <p:cNvPr id="11" name="Shape 9"/>
          <p:cNvSpPr/>
          <p:nvPr/>
        </p:nvSpPr>
        <p:spPr>
          <a:xfrm>
            <a:off x="6720840" y="1143000"/>
            <a:ext cx="2011680" cy="621792"/>
          </a:xfrm>
          <a:prstGeom prst="roundRect">
            <a:avLst>
              <a:gd name="adj" fmla="val 11765"/>
            </a:avLst>
          </a:prstGeom>
          <a:solidFill>
            <a:srgbClr val="E8EDEE"/>
          </a:solidFill>
          <a:ln w="12700">
            <a:solidFill>
              <a:srgbClr val="C7D2D8"/>
            </a:solidFill>
            <a:prstDash val="solid"/>
          </a:ln>
        </p:spPr>
      </p:sp>
      <p:sp>
        <p:nvSpPr>
          <p:cNvPr id="12" name="Text 10"/>
          <p:cNvSpPr/>
          <p:nvPr/>
        </p:nvSpPr>
        <p:spPr>
          <a:xfrm>
            <a:off x="6720840" y="1143000"/>
            <a:ext cx="2011680" cy="621792"/>
          </a:xfrm>
          <a:prstGeom prst="rect">
            <a:avLst/>
          </a:prstGeom>
          <a:noFill/>
          <a:ln/>
        </p:spPr>
        <p:txBody>
          <a:bodyPr wrap="square" lIns="0" tIns="0" rIns="0" bIns="0" rtlCol="0" anchor="ctr"/>
          <a:lstStyle/>
          <a:p>
            <a:pPr algn="ctr" indent="0" marL="0">
              <a:buNone/>
            </a:pPr>
            <a:r>
              <a:rPr lang="en-US" sz="1200" dirty="0">
                <a:solidFill>
                  <a:srgbClr val="425563"/>
                </a:solidFill>
                <a:latin typeface="Arial" pitchFamily="34" charset="0"/>
                <a:ea typeface="Arial" pitchFamily="34" charset="-122"/>
                <a:cs typeface="Arial" pitchFamily="34" charset="-120"/>
              </a:rPr>
              <a:t>Paper folders</a:t>
            </a:r>
            <a:endParaRPr lang="en-US" sz="1200" dirty="0"/>
          </a:p>
        </p:txBody>
      </p:sp>
      <p:sp>
        <p:nvSpPr>
          <p:cNvPr id="13" name="Shape 11"/>
          <p:cNvSpPr/>
          <p:nvPr/>
        </p:nvSpPr>
        <p:spPr>
          <a:xfrm>
            <a:off x="4434840" y="3657600"/>
            <a:ext cx="2011680" cy="621792"/>
          </a:xfrm>
          <a:prstGeom prst="roundRect">
            <a:avLst>
              <a:gd name="adj" fmla="val 11765"/>
            </a:avLst>
          </a:prstGeom>
          <a:solidFill>
            <a:srgbClr val="E8EDEE"/>
          </a:solidFill>
          <a:ln w="12700">
            <a:solidFill>
              <a:srgbClr val="C7D2D8"/>
            </a:solidFill>
            <a:prstDash val="solid"/>
          </a:ln>
        </p:spPr>
      </p:sp>
      <p:sp>
        <p:nvSpPr>
          <p:cNvPr id="14" name="Text 12"/>
          <p:cNvSpPr/>
          <p:nvPr/>
        </p:nvSpPr>
        <p:spPr>
          <a:xfrm>
            <a:off x="4434840" y="3657600"/>
            <a:ext cx="2011680" cy="621792"/>
          </a:xfrm>
          <a:prstGeom prst="rect">
            <a:avLst/>
          </a:prstGeom>
          <a:noFill/>
          <a:ln/>
        </p:spPr>
        <p:txBody>
          <a:bodyPr wrap="square" lIns="0" tIns="0" rIns="0" bIns="0" rtlCol="0" anchor="ctr"/>
          <a:lstStyle/>
          <a:p>
            <a:pPr algn="ctr" indent="0" marL="0">
              <a:buNone/>
            </a:pPr>
            <a:r>
              <a:rPr lang="en-US" sz="1200" dirty="0">
                <a:solidFill>
                  <a:srgbClr val="425563"/>
                </a:solidFill>
                <a:latin typeface="Arial" pitchFamily="34" charset="0"/>
                <a:ea typeface="Arial" pitchFamily="34" charset="-122"/>
                <a:cs typeface="Arial" pitchFamily="34" charset="-120"/>
              </a:rPr>
              <a:t>Someone's memory</a:t>
            </a:r>
            <a:endParaRPr lang="en-US" sz="1200" dirty="0"/>
          </a:p>
        </p:txBody>
      </p:sp>
      <p:sp>
        <p:nvSpPr>
          <p:cNvPr id="15" name="Shape 13"/>
          <p:cNvSpPr/>
          <p:nvPr/>
        </p:nvSpPr>
        <p:spPr>
          <a:xfrm>
            <a:off x="6720840" y="3657600"/>
            <a:ext cx="2011680" cy="621792"/>
          </a:xfrm>
          <a:prstGeom prst="roundRect">
            <a:avLst>
              <a:gd name="adj" fmla="val 11765"/>
            </a:avLst>
          </a:prstGeom>
          <a:solidFill>
            <a:srgbClr val="E8EDEE"/>
          </a:solidFill>
          <a:ln w="12700">
            <a:solidFill>
              <a:srgbClr val="C7D2D8"/>
            </a:solidFill>
            <a:prstDash val="solid"/>
          </a:ln>
        </p:spPr>
      </p:sp>
      <p:sp>
        <p:nvSpPr>
          <p:cNvPr id="16" name="Text 14"/>
          <p:cNvSpPr/>
          <p:nvPr/>
        </p:nvSpPr>
        <p:spPr>
          <a:xfrm>
            <a:off x="6720840" y="3657600"/>
            <a:ext cx="2011680" cy="621792"/>
          </a:xfrm>
          <a:prstGeom prst="rect">
            <a:avLst/>
          </a:prstGeom>
          <a:noFill/>
          <a:ln/>
        </p:spPr>
        <p:txBody>
          <a:bodyPr wrap="square" lIns="0" tIns="0" rIns="0" bIns="0" rtlCol="0" anchor="ctr"/>
          <a:lstStyle/>
          <a:p>
            <a:pPr algn="ctr" indent="0" marL="0">
              <a:buNone/>
            </a:pPr>
            <a:r>
              <a:rPr lang="en-US" sz="1200" dirty="0">
                <a:solidFill>
                  <a:srgbClr val="425563"/>
                </a:solidFill>
                <a:latin typeface="Arial" pitchFamily="34" charset="0"/>
                <a:ea typeface="Arial" pitchFamily="34" charset="-122"/>
                <a:cs typeface="Arial" pitchFamily="34" charset="-120"/>
              </a:rPr>
              <a:t>The nurse next to you</a:t>
            </a:r>
            <a:endParaRPr lang="en-US" sz="1200" dirty="0"/>
          </a:p>
        </p:txBody>
      </p:sp>
      <p:sp>
        <p:nvSpPr>
          <p:cNvPr id="17" name="Shape 15"/>
          <p:cNvSpPr/>
          <p:nvPr/>
        </p:nvSpPr>
        <p:spPr>
          <a:xfrm>
            <a:off x="5577840" y="2395728"/>
            <a:ext cx="2560320" cy="822960"/>
          </a:xfrm>
          <a:prstGeom prst="roundRect">
            <a:avLst>
              <a:gd name="adj" fmla="val 11111"/>
            </a:avLst>
          </a:prstGeom>
          <a:solidFill>
            <a:srgbClr val="005EB8"/>
          </a:solidFill>
          <a:ln/>
          <a:effectLst>
            <a:outerShdw sx="100000" sy="100000" kx="0" ky="0" algn="bl" rotWithShape="0" blurRad="88900" dist="25400" dir="2700000">
              <a:srgbClr val="000000">
                <a:alpha val="18000"/>
              </a:srgbClr>
            </a:outerShdw>
          </a:effectLst>
        </p:spPr>
      </p:sp>
      <p:sp>
        <p:nvSpPr>
          <p:cNvPr id="18" name="Text 16"/>
          <p:cNvSpPr/>
          <p:nvPr/>
        </p:nvSpPr>
        <p:spPr>
          <a:xfrm>
            <a:off x="5577840" y="2395728"/>
            <a:ext cx="2560320" cy="82296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Where is the seclusion SOP?</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One website, everything in it</a:t>
            </a:r>
            <a:endParaRPr lang="en-US" sz="2800" dirty="0"/>
          </a:p>
        </p:txBody>
      </p:sp>
      <p:sp>
        <p:nvSpPr>
          <p:cNvPr id="3" name="Text 1"/>
          <p:cNvSpPr/>
          <p:nvPr/>
        </p:nvSpPr>
        <p:spPr>
          <a:xfrm>
            <a:off x="502920" y="1188720"/>
            <a:ext cx="1234440" cy="685800"/>
          </a:xfrm>
          <a:prstGeom prst="rect">
            <a:avLst/>
          </a:prstGeom>
          <a:noFill/>
          <a:ln/>
        </p:spPr>
        <p:txBody>
          <a:bodyPr wrap="square" lIns="0" tIns="0" rIns="0" bIns="0" rtlCol="0" anchor="ctr"/>
          <a:lstStyle/>
          <a:p>
            <a:pPr algn="r" indent="0" marL="0">
              <a:buNone/>
            </a:pPr>
            <a:r>
              <a:rPr lang="en-US" sz="4000" b="1" dirty="0">
                <a:solidFill>
                  <a:srgbClr val="005EB8"/>
                </a:solidFill>
                <a:latin typeface="Arial" pitchFamily="34" charset="0"/>
                <a:ea typeface="Arial" pitchFamily="34" charset="-122"/>
                <a:cs typeface="Arial" pitchFamily="34" charset="-120"/>
              </a:rPr>
              <a:t>64</a:t>
            </a:r>
            <a:endParaRPr lang="en-US" sz="4000" dirty="0"/>
          </a:p>
        </p:txBody>
      </p:sp>
      <p:sp>
        <p:nvSpPr>
          <p:cNvPr id="4" name="Text 2"/>
          <p:cNvSpPr/>
          <p:nvPr/>
        </p:nvSpPr>
        <p:spPr>
          <a:xfrm>
            <a:off x="1874520" y="1243584"/>
            <a:ext cx="2240280" cy="658368"/>
          </a:xfrm>
          <a:prstGeom prst="rect">
            <a:avLst/>
          </a:prstGeom>
          <a:noFill/>
          <a:ln/>
        </p:spPr>
        <p:txBody>
          <a:bodyPr wrap="square" lIns="0" tIns="0" rIns="0" bIns="0" rtlCol="0" anchor="ctr"/>
          <a:lstStyle/>
          <a:p>
            <a:pPr indent="0" marL="0">
              <a:buNone/>
            </a:pPr>
            <a:r>
              <a:rPr lang="en-US" sz="1250" dirty="0">
                <a:solidFill>
                  <a:srgbClr val="425563"/>
                </a:solidFill>
                <a:latin typeface="Arial" pitchFamily="34" charset="0"/>
                <a:ea typeface="Arial" pitchFamily="34" charset="-122"/>
                <a:cs typeface="Arial" pitchFamily="34" charset="-120"/>
              </a:rPr>
              <a:t>clinical guides and referral walkthroughs</a:t>
            </a:r>
            <a:endParaRPr lang="en-US" sz="1250" dirty="0"/>
          </a:p>
        </p:txBody>
      </p:sp>
      <p:sp>
        <p:nvSpPr>
          <p:cNvPr id="5" name="Text 3"/>
          <p:cNvSpPr/>
          <p:nvPr/>
        </p:nvSpPr>
        <p:spPr>
          <a:xfrm>
            <a:off x="502920" y="1965960"/>
            <a:ext cx="1234440" cy="685800"/>
          </a:xfrm>
          <a:prstGeom prst="rect">
            <a:avLst/>
          </a:prstGeom>
          <a:noFill/>
          <a:ln/>
        </p:spPr>
        <p:txBody>
          <a:bodyPr wrap="square" lIns="0" tIns="0" rIns="0" bIns="0" rtlCol="0" anchor="ctr"/>
          <a:lstStyle/>
          <a:p>
            <a:pPr algn="r" indent="0" marL="0">
              <a:buNone/>
            </a:pPr>
            <a:r>
              <a:rPr lang="en-US" sz="4000" b="1" dirty="0">
                <a:solidFill>
                  <a:srgbClr val="005EB8"/>
                </a:solidFill>
                <a:latin typeface="Arial" pitchFamily="34" charset="0"/>
                <a:ea typeface="Arial" pitchFamily="34" charset="-122"/>
                <a:cs typeface="Arial" pitchFamily="34" charset="-120"/>
              </a:rPr>
              <a:t>364</a:t>
            </a:r>
            <a:endParaRPr lang="en-US" sz="4000" dirty="0"/>
          </a:p>
        </p:txBody>
      </p:sp>
      <p:sp>
        <p:nvSpPr>
          <p:cNvPr id="6" name="Text 4"/>
          <p:cNvSpPr/>
          <p:nvPr/>
        </p:nvSpPr>
        <p:spPr>
          <a:xfrm>
            <a:off x="1874520" y="2020824"/>
            <a:ext cx="2240280" cy="658368"/>
          </a:xfrm>
          <a:prstGeom prst="rect">
            <a:avLst/>
          </a:prstGeom>
          <a:noFill/>
          <a:ln/>
        </p:spPr>
        <p:txBody>
          <a:bodyPr wrap="square" lIns="0" tIns="0" rIns="0" bIns="0" rtlCol="0" anchor="ctr"/>
          <a:lstStyle/>
          <a:p>
            <a:pPr indent="0" marL="0">
              <a:buNone/>
            </a:pPr>
            <a:r>
              <a:rPr lang="en-US" sz="1250" dirty="0">
                <a:solidFill>
                  <a:srgbClr val="425563"/>
                </a:solidFill>
                <a:latin typeface="Arial" pitchFamily="34" charset="0"/>
                <a:ea typeface="Arial" pitchFamily="34" charset="-122"/>
                <a:cs typeface="Arial" pitchFamily="34" charset="-120"/>
              </a:rPr>
              <a:t>sourced quiz questions</a:t>
            </a:r>
            <a:endParaRPr lang="en-US" sz="1250" dirty="0"/>
          </a:p>
        </p:txBody>
      </p:sp>
      <p:sp>
        <p:nvSpPr>
          <p:cNvPr id="7" name="Text 5"/>
          <p:cNvSpPr/>
          <p:nvPr/>
        </p:nvSpPr>
        <p:spPr>
          <a:xfrm>
            <a:off x="502920" y="2743200"/>
            <a:ext cx="1234440" cy="685800"/>
          </a:xfrm>
          <a:prstGeom prst="rect">
            <a:avLst/>
          </a:prstGeom>
          <a:noFill/>
          <a:ln/>
        </p:spPr>
        <p:txBody>
          <a:bodyPr wrap="square" lIns="0" tIns="0" rIns="0" bIns="0" rtlCol="0" anchor="ctr"/>
          <a:lstStyle/>
          <a:p>
            <a:pPr algn="r" indent="0" marL="0">
              <a:buNone/>
            </a:pPr>
            <a:r>
              <a:rPr lang="en-US" sz="4000" b="1" dirty="0">
                <a:solidFill>
                  <a:srgbClr val="005EB8"/>
                </a:solidFill>
                <a:latin typeface="Arial" pitchFamily="34" charset="0"/>
                <a:ea typeface="Arial" pitchFamily="34" charset="-122"/>
                <a:cs typeface="Arial" pitchFamily="34" charset="-120"/>
              </a:rPr>
              <a:t>113</a:t>
            </a:r>
            <a:endParaRPr lang="en-US" sz="4000" dirty="0"/>
          </a:p>
        </p:txBody>
      </p:sp>
      <p:sp>
        <p:nvSpPr>
          <p:cNvPr id="8" name="Text 6"/>
          <p:cNvSpPr/>
          <p:nvPr/>
        </p:nvSpPr>
        <p:spPr>
          <a:xfrm>
            <a:off x="1874520" y="2798064"/>
            <a:ext cx="2240280" cy="658368"/>
          </a:xfrm>
          <a:prstGeom prst="rect">
            <a:avLst/>
          </a:prstGeom>
          <a:noFill/>
          <a:ln/>
        </p:spPr>
        <p:txBody>
          <a:bodyPr wrap="square" lIns="0" tIns="0" rIns="0" bIns="0" rtlCol="0" anchor="ctr"/>
          <a:lstStyle/>
          <a:p>
            <a:pPr indent="0" marL="0">
              <a:buNone/>
            </a:pPr>
            <a:r>
              <a:rPr lang="en-US" sz="1250" dirty="0">
                <a:solidFill>
                  <a:srgbClr val="425563"/>
                </a:solidFill>
                <a:latin typeface="Arial" pitchFamily="34" charset="0"/>
                <a:ea typeface="Arial" pitchFamily="34" charset="-122"/>
                <a:cs typeface="Arial" pitchFamily="34" charset="-120"/>
              </a:rPr>
              <a:t>ward links, checked and categorised</a:t>
            </a:r>
            <a:endParaRPr lang="en-US" sz="1250" dirty="0"/>
          </a:p>
        </p:txBody>
      </p:sp>
      <p:sp>
        <p:nvSpPr>
          <p:cNvPr id="9" name="Text 7"/>
          <p:cNvSpPr/>
          <p:nvPr/>
        </p:nvSpPr>
        <p:spPr>
          <a:xfrm>
            <a:off x="502920" y="3520440"/>
            <a:ext cx="1234440" cy="685800"/>
          </a:xfrm>
          <a:prstGeom prst="rect">
            <a:avLst/>
          </a:prstGeom>
          <a:noFill/>
          <a:ln/>
        </p:spPr>
        <p:txBody>
          <a:bodyPr wrap="square" lIns="0" tIns="0" rIns="0" bIns="0" rtlCol="0" anchor="ctr"/>
          <a:lstStyle/>
          <a:p>
            <a:pPr algn="r" indent="0" marL="0">
              <a:buNone/>
            </a:pPr>
            <a:r>
              <a:rPr lang="en-US" sz="4000" b="1" dirty="0">
                <a:solidFill>
                  <a:srgbClr val="005EB8"/>
                </a:solidFill>
                <a:latin typeface="Arial" pitchFamily="34" charset="0"/>
                <a:ea typeface="Arial" pitchFamily="34" charset="-122"/>
                <a:cs typeface="Arial" pitchFamily="34" charset="-120"/>
              </a:rPr>
              <a:t>109</a:t>
            </a:r>
            <a:endParaRPr lang="en-US" sz="4000" dirty="0"/>
          </a:p>
        </p:txBody>
      </p:sp>
      <p:sp>
        <p:nvSpPr>
          <p:cNvPr id="10" name="Text 8"/>
          <p:cNvSpPr/>
          <p:nvPr/>
        </p:nvSpPr>
        <p:spPr>
          <a:xfrm>
            <a:off x="1874520" y="3575304"/>
            <a:ext cx="2240280" cy="658368"/>
          </a:xfrm>
          <a:prstGeom prst="rect">
            <a:avLst/>
          </a:prstGeom>
          <a:noFill/>
          <a:ln/>
        </p:spPr>
        <p:txBody>
          <a:bodyPr wrap="square" lIns="0" tIns="0" rIns="0" bIns="0" rtlCol="0" anchor="ctr"/>
          <a:lstStyle/>
          <a:p>
            <a:pPr indent="0" marL="0">
              <a:buNone/>
            </a:pPr>
            <a:r>
              <a:rPr lang="en-US" sz="1250" dirty="0">
                <a:solidFill>
                  <a:srgbClr val="425563"/>
                </a:solidFill>
                <a:latin typeface="Arial" pitchFamily="34" charset="0"/>
                <a:ea typeface="Arial" pitchFamily="34" charset="-122"/>
                <a:cs typeface="Arial" pitchFamily="34" charset="-120"/>
              </a:rPr>
              <a:t>local services on an eligibility map</a:t>
            </a:r>
            <a:endParaRPr lang="en-US" sz="1250" dirty="0"/>
          </a:p>
        </p:txBody>
      </p:sp>
      <p:sp>
        <p:nvSpPr>
          <p:cNvPr id="11" name="Text 9"/>
          <p:cNvSpPr/>
          <p:nvPr/>
        </p:nvSpPr>
        <p:spPr>
          <a:xfrm>
            <a:off x="502920" y="4434840"/>
            <a:ext cx="3611880" cy="548640"/>
          </a:xfrm>
          <a:prstGeom prst="rect">
            <a:avLst/>
          </a:prstGeom>
          <a:noFill/>
          <a:ln/>
        </p:spPr>
        <p:txBody>
          <a:bodyPr wrap="square" lIns="0" tIns="0" rIns="0" bIns="0" rtlCol="0" anchor="ctr"/>
          <a:lstStyle/>
          <a:p>
            <a:pPr indent="0" marL="0">
              <a:buNone/>
            </a:pPr>
            <a:r>
              <a:rPr lang="en-US" sz="1050" i="1" dirty="0">
                <a:solidFill>
                  <a:srgbClr val="768692"/>
                </a:solidFill>
                <a:latin typeface="Arial" pitchFamily="34" charset="0"/>
                <a:ea typeface="Arial" pitchFamily="34" charset="-122"/>
                <a:cs typeface="Arial" pitchFamily="34" charset="-120"/>
              </a:rPr>
              <a:t>Counts measured in the code, July 2026. Every patient and staff name in the demo is fictional.</a:t>
            </a:r>
            <a:endParaRPr lang="en-US" sz="1050" dirty="0"/>
          </a:p>
        </p:txBody>
      </p:sp>
      <p:pic>
        <p:nvPicPr>
          <p:cNvPr id="12" name="Image 0" descr="wardHub home page with quick links wheel">    </p:cNvPr>
          <p:cNvPicPr>
            <a:picLocks noChangeAspect="1"/>
          </p:cNvPicPr>
          <p:nvPr/>
        </p:nvPicPr>
        <p:blipFill>
          <a:blip r:embed="rId1"/>
          <a:stretch>
            <a:fillRect/>
          </a:stretch>
        </p:blipFill>
        <p:spPr>
          <a:xfrm>
            <a:off x="4251960" y="1188720"/>
            <a:ext cx="4480560" cy="2912364"/>
          </a:xfrm>
          <a:prstGeom prst="rect">
            <a:avLst/>
          </a:prstGeom>
          <a:effectLst>
            <a:outerShdw sx="100000" sy="100000" kx="0" ky="0" algn="bl" rotWithShape="0" blurRad="88900" dist="25400" dir="2700000">
              <a:srgbClr val="000000">
                <a:alpha val="18000"/>
              </a:srgbClr>
            </a:outerShdw>
          </a:effectLst>
        </p:spPr>
      </p:pic>
      <p:sp>
        <p:nvSpPr>
          <p:cNvPr id="13" name="Text 10"/>
          <p:cNvSpPr/>
          <p:nvPr/>
        </p:nvSpPr>
        <p:spPr>
          <a:xfrm>
            <a:off x="4251960" y="4174236"/>
            <a:ext cx="4480560" cy="320040"/>
          </a:xfrm>
          <a:prstGeom prst="rect">
            <a:avLst/>
          </a:prstGeom>
          <a:noFill/>
          <a:ln/>
        </p:spPr>
        <p:txBody>
          <a:bodyPr wrap="square" lIns="0" tIns="0" rIns="0" bIns="0" rtlCol="0" anchor="ctr"/>
          <a:lstStyle/>
          <a:p>
            <a:pPr algn="ctr" indent="0" marL="0">
              <a:buNone/>
            </a:pPr>
            <a:r>
              <a:rPr lang="en-US" sz="1050" i="1" dirty="0">
                <a:solidFill>
                  <a:srgbClr val="768692"/>
                </a:solidFill>
                <a:latin typeface="Arial" pitchFamily="34" charset="0"/>
                <a:ea typeface="Arial" pitchFamily="34" charset="-122"/>
                <a:cs typeface="Arial" pitchFamily="34" charset="-120"/>
              </a:rPr>
              <a:t>The home page: crisis numbers front and centre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A referral that finishes itself</a:t>
            </a:r>
            <a:endParaRPr lang="en-US" sz="2800" dirty="0"/>
          </a:p>
        </p:txBody>
      </p:sp>
      <p:sp>
        <p:nvSpPr>
          <p:cNvPr id="3" name="Text 1"/>
          <p:cNvSpPr/>
          <p:nvPr/>
        </p:nvSpPr>
        <p:spPr>
          <a:xfrm>
            <a:off x="502920" y="1143000"/>
            <a:ext cx="1234440" cy="685800"/>
          </a:xfrm>
          <a:prstGeom prst="rect">
            <a:avLst/>
          </a:prstGeom>
          <a:noFill/>
          <a:ln/>
        </p:spPr>
        <p:txBody>
          <a:bodyPr wrap="square" lIns="0" tIns="0" rIns="0" bIns="0" rtlCol="0" anchor="ctr"/>
          <a:lstStyle/>
          <a:p>
            <a:pPr algn="r" indent="0" marL="0">
              <a:buNone/>
            </a:pPr>
            <a:r>
              <a:rPr lang="en-US" sz="4000" b="1" dirty="0">
                <a:solidFill>
                  <a:srgbClr val="005EB8"/>
                </a:solidFill>
                <a:latin typeface="Arial" pitchFamily="34" charset="0"/>
                <a:ea typeface="Arial" pitchFamily="34" charset="-122"/>
                <a:cs typeface="Arial" pitchFamily="34" charset="-120"/>
              </a:rPr>
              <a:t>17</a:t>
            </a:r>
            <a:endParaRPr lang="en-US" sz="4000" dirty="0"/>
          </a:p>
        </p:txBody>
      </p:sp>
      <p:sp>
        <p:nvSpPr>
          <p:cNvPr id="4" name="Text 2"/>
          <p:cNvSpPr/>
          <p:nvPr/>
        </p:nvSpPr>
        <p:spPr>
          <a:xfrm>
            <a:off x="1874520" y="1197864"/>
            <a:ext cx="2240280" cy="658368"/>
          </a:xfrm>
          <a:prstGeom prst="rect">
            <a:avLst/>
          </a:prstGeom>
          <a:noFill/>
          <a:ln/>
        </p:spPr>
        <p:txBody>
          <a:bodyPr wrap="square" lIns="0" tIns="0" rIns="0" bIns="0" rtlCol="0" anchor="ctr"/>
          <a:lstStyle/>
          <a:p>
            <a:pPr indent="0" marL="0">
              <a:buNone/>
            </a:pPr>
            <a:r>
              <a:rPr lang="en-US" sz="1250" dirty="0">
                <a:solidFill>
                  <a:srgbClr val="425563"/>
                </a:solidFill>
                <a:latin typeface="Arial" pitchFamily="34" charset="0"/>
                <a:ea typeface="Arial" pitchFamily="34" charset="-122"/>
                <a:cs typeface="Arial" pitchFamily="34" charset="-120"/>
              </a:rPr>
              <a:t>step-by-step referral walkthroughs</a:t>
            </a:r>
            <a:endParaRPr lang="en-US" sz="1250" dirty="0"/>
          </a:p>
        </p:txBody>
      </p:sp>
      <p:sp>
        <p:nvSpPr>
          <p:cNvPr id="5" name="Text 3"/>
          <p:cNvSpPr/>
          <p:nvPr/>
        </p:nvSpPr>
        <p:spPr>
          <a:xfrm>
            <a:off x="502920" y="2148840"/>
            <a:ext cx="3566160" cy="24688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12B32"/>
                </a:solidFill>
                <a:latin typeface="Arial" pitchFamily="34" charset="0"/>
                <a:ea typeface="Arial" pitchFamily="34" charset="-122"/>
                <a:cs typeface="Arial" pitchFamily="34" charset="-120"/>
              </a:rPr>
              <a:t>Criteria check first, so no wasted referrals</a:t>
            </a:r>
            <a:endParaRPr lang="en-US" sz="1300" dirty="0"/>
          </a:p>
          <a:p>
            <a:pPr marL="342900" indent="-342900">
              <a:spcAft>
                <a:spcPts val="1000"/>
              </a:spcAft>
              <a:buSzPct val="100000"/>
              <a:buChar char="•"/>
            </a:pPr>
            <a:r>
              <a:rPr lang="en-US" sz="1300" dirty="0">
                <a:solidFill>
                  <a:srgbClr val="212B32"/>
                </a:solidFill>
                <a:latin typeface="Arial" pitchFamily="34" charset="0"/>
                <a:ea typeface="Arial" pitchFamily="34" charset="-122"/>
                <a:cs typeface="Arial" pitchFamily="34" charset="-120"/>
              </a:rPr>
              <a:t>Branches for Derby City and Derbyshire County</a:t>
            </a:r>
            <a:endParaRPr lang="en-US" sz="1300" dirty="0"/>
          </a:p>
          <a:p>
            <a:pPr marL="342900" indent="-342900">
              <a:spcAft>
                <a:spcPts val="1000"/>
              </a:spcAft>
              <a:buSzPct val="100000"/>
              <a:buChar char="•"/>
            </a:pPr>
            <a:r>
              <a:rPr lang="en-US" sz="1300" dirty="0">
                <a:solidFill>
                  <a:srgbClr val="212B32"/>
                </a:solidFill>
                <a:latin typeface="Arial" pitchFamily="34" charset="0"/>
                <a:ea typeface="Arial" pitchFamily="34" charset="-122"/>
                <a:cs typeface="Arial" pitchFamily="34" charset="-120"/>
              </a:rPr>
              <a:t>Blank form, a worked example, and where to send it</a:t>
            </a:r>
            <a:endParaRPr lang="en-US" sz="1300" dirty="0"/>
          </a:p>
          <a:p>
            <a:pPr marL="342900" indent="-342900">
              <a:spcAft>
                <a:spcPts val="1000"/>
              </a:spcAft>
              <a:buSzPct val="100000"/>
              <a:buChar char="•"/>
            </a:pPr>
            <a:r>
              <a:rPr lang="en-US" sz="1300" dirty="0">
                <a:solidFill>
                  <a:srgbClr val="212B32"/>
                </a:solidFill>
                <a:latin typeface="Arial" pitchFamily="34" charset="0"/>
                <a:ea typeface="Arial" pitchFamily="34" charset="-122"/>
                <a:cs typeface="Arial" pitchFamily="34" charset="-120"/>
              </a:rPr>
              <a:t>Then it writes the case note. Copy, paste into SystmOne, done</a:t>
            </a:r>
            <a:endParaRPr lang="en-US" sz="1300" dirty="0"/>
          </a:p>
          <a:p>
            <a:pPr marL="342900" indent="-342900">
              <a:spcAft>
                <a:spcPts val="1000"/>
              </a:spcAft>
              <a:buSzPct val="100000"/>
              <a:buChar char="•"/>
            </a:pPr>
            <a:r>
              <a:rPr lang="en-US" sz="1300" dirty="0">
                <a:solidFill>
                  <a:srgbClr val="212B32"/>
                </a:solidFill>
                <a:latin typeface="Arial" pitchFamily="34" charset="0"/>
                <a:ea typeface="Arial" pitchFamily="34" charset="-122"/>
                <a:cs typeface="Arial" pitchFamily="34" charset="-120"/>
              </a:rPr>
              <a:t>Every guide prints for the ward folder</a:t>
            </a:r>
            <a:endParaRPr lang="en-US" sz="1300" dirty="0"/>
          </a:p>
        </p:txBody>
      </p:sp>
      <p:pic>
        <p:nvPicPr>
          <p:cNvPr id="6" name="Image 0" descr="IMHA advocacy referral guide, step 1 of 9">    </p:cNvPr>
          <p:cNvPicPr>
            <a:picLocks noChangeAspect="1"/>
          </p:cNvPicPr>
          <p:nvPr/>
        </p:nvPicPr>
        <p:blipFill>
          <a:blip r:embed="rId1"/>
          <a:stretch>
            <a:fillRect/>
          </a:stretch>
        </p:blipFill>
        <p:spPr>
          <a:xfrm>
            <a:off x="4251960" y="1371600"/>
            <a:ext cx="4480560" cy="2400300"/>
          </a:xfrm>
          <a:prstGeom prst="rect">
            <a:avLst/>
          </a:prstGeom>
          <a:effectLst>
            <a:outerShdw sx="100000" sy="100000" kx="0" ky="0" algn="bl" rotWithShape="0" blurRad="88900" dist="25400" dir="2700000">
              <a:srgbClr val="000000">
                <a:alpha val="18000"/>
              </a:srgbClr>
            </a:outerShdw>
          </a:effectLst>
        </p:spPr>
      </p:pic>
      <p:sp>
        <p:nvSpPr>
          <p:cNvPr id="7" name="Text 4"/>
          <p:cNvSpPr/>
          <p:nvPr/>
        </p:nvSpPr>
        <p:spPr>
          <a:xfrm>
            <a:off x="4251960" y="3845052"/>
            <a:ext cx="4480560" cy="320040"/>
          </a:xfrm>
          <a:prstGeom prst="rect">
            <a:avLst/>
          </a:prstGeom>
          <a:noFill/>
          <a:ln/>
        </p:spPr>
        <p:txBody>
          <a:bodyPr wrap="square" lIns="0" tIns="0" rIns="0" bIns="0" rtlCol="0" anchor="ctr"/>
          <a:lstStyle/>
          <a:p>
            <a:pPr algn="ctr" indent="0" marL="0">
              <a:buNone/>
            </a:pPr>
            <a:r>
              <a:rPr lang="en-US" sz="1050" i="1" dirty="0">
                <a:solidFill>
                  <a:srgbClr val="768692"/>
                </a:solidFill>
                <a:latin typeface="Arial" pitchFamily="34" charset="0"/>
                <a:ea typeface="Arial" pitchFamily="34" charset="-122"/>
                <a:cs typeface="Arial" pitchFamily="34" charset="-120"/>
              </a:rPr>
              <a:t>The advocacy referral: nine steps, one case note at the end</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364 questions, every one sourced</a:t>
            </a:r>
            <a:endParaRPr lang="en-US" sz="2800" dirty="0"/>
          </a:p>
        </p:txBody>
      </p:sp>
      <p:sp>
        <p:nvSpPr>
          <p:cNvPr id="3" name="Text 1"/>
          <p:cNvSpPr/>
          <p:nvPr/>
        </p:nvSpPr>
        <p:spPr>
          <a:xfrm>
            <a:off x="502920" y="1371600"/>
            <a:ext cx="3566160" cy="2926080"/>
          </a:xfrm>
          <a:prstGeom prst="rect">
            <a:avLst/>
          </a:prstGeom>
          <a:noFill/>
          <a:ln/>
        </p:spPr>
        <p:txBody>
          <a:bodyPr wrap="square" lIns="0" tIns="0" rIns="0" bIns="0" rtlCol="0" anchor="ctr"/>
          <a:lstStyle/>
          <a:p>
            <a:pPr marL="342900" indent="-342900">
              <a:spcAft>
                <a:spcPts val="1100"/>
              </a:spcAft>
              <a:buSzPct val="100000"/>
              <a:buChar char="•"/>
            </a:pPr>
            <a:r>
              <a:rPr lang="en-US" sz="1300" dirty="0">
                <a:solidFill>
                  <a:srgbClr val="212B32"/>
                </a:solidFill>
                <a:latin typeface="Arial" pitchFamily="34" charset="0"/>
                <a:ea typeface="Arial" pitchFamily="34" charset="-122"/>
                <a:cs typeface="Arial" pitchFamily="34" charset="-120"/>
              </a:rPr>
              <a:t>Sourced from NICE, the BNF, NMC guidance and the MHA code of practice</a:t>
            </a:r>
            <a:endParaRPr lang="en-US" sz="1300" dirty="0"/>
          </a:p>
          <a:p>
            <a:pPr marL="342900" indent="-342900">
              <a:spcAft>
                <a:spcPts val="1100"/>
              </a:spcAft>
              <a:buSzPct val="100000"/>
              <a:buChar char="•"/>
            </a:pPr>
            <a:r>
              <a:rPr lang="en-US" sz="1300" dirty="0">
                <a:solidFill>
                  <a:srgbClr val="212B32"/>
                </a:solidFill>
                <a:latin typeface="Arial" pitchFamily="34" charset="0"/>
                <a:ea typeface="Arial" pitchFamily="34" charset="-122"/>
                <a:cs typeface="Arial" pitchFamily="34" charset="-120"/>
              </a:rPr>
              <a:t>26 topics, three difficulty levels</a:t>
            </a:r>
            <a:endParaRPr lang="en-US" sz="1300" dirty="0"/>
          </a:p>
          <a:p>
            <a:pPr marL="342900" indent="-342900">
              <a:spcAft>
                <a:spcPts val="1100"/>
              </a:spcAft>
              <a:buSzPct val="100000"/>
              <a:buChar char="•"/>
            </a:pPr>
            <a:r>
              <a:rPr lang="en-US" sz="1300" dirty="0">
                <a:solidFill>
                  <a:srgbClr val="212B32"/>
                </a:solidFill>
                <a:latin typeface="Arial" pitchFamily="34" charset="0"/>
                <a:ea typeface="Arial" pitchFamily="34" charset="-122"/>
                <a:cs typeface="Arial" pitchFamily="34" charset="-120"/>
              </a:rPr>
              <a:t>Every answer explains itself and cites its source</a:t>
            </a:r>
            <a:endParaRPr lang="en-US" sz="1300" dirty="0"/>
          </a:p>
          <a:p>
            <a:pPr marL="342900" indent="-342900">
              <a:spcAft>
                <a:spcPts val="1100"/>
              </a:spcAft>
              <a:buSzPct val="100000"/>
              <a:buChar char="•"/>
            </a:pPr>
            <a:r>
              <a:rPr lang="en-US" sz="1300" dirty="0">
                <a:solidFill>
                  <a:srgbClr val="212B32"/>
                </a:solidFill>
                <a:latin typeface="Arial" pitchFamily="34" charset="0"/>
                <a:ea typeface="Arial" pitchFamily="34" charset="-122"/>
                <a:cs typeface="Arial" pitchFamily="34" charset="-120"/>
              </a:rPr>
              <a:t>No logins, no scores kept, nothing sent anywhere</a:t>
            </a:r>
            <a:endParaRPr lang="en-US" sz="1300" dirty="0"/>
          </a:p>
          <a:p>
            <a:pPr marL="342900" indent="-342900">
              <a:spcAft>
                <a:spcPts val="1100"/>
              </a:spcAft>
              <a:buSzPct val="100000"/>
              <a:buChar char="•"/>
            </a:pPr>
            <a:r>
              <a:rPr lang="en-US" sz="1300" dirty="0">
                <a:solidFill>
                  <a:srgbClr val="212B32"/>
                </a:solidFill>
                <a:latin typeface="Arial" pitchFamily="34" charset="0"/>
                <a:ea typeface="Arial" pitchFamily="34" charset="-122"/>
                <a:cs typeface="Arial" pitchFamily="34" charset="-120"/>
              </a:rPr>
              <a:t>Made for quiet nights, not for mandatory training</a:t>
            </a:r>
            <a:endParaRPr lang="en-US" sz="1300" dirty="0"/>
          </a:p>
        </p:txBody>
      </p:sp>
      <p:pic>
        <p:nvPicPr>
          <p:cNvPr id="4" name="Image 0" descr="Training quiz topic picker">    </p:cNvPr>
          <p:cNvPicPr>
            <a:picLocks noChangeAspect="1"/>
          </p:cNvPicPr>
          <p:nvPr/>
        </p:nvPicPr>
        <p:blipFill>
          <a:blip r:embed="rId1"/>
          <a:stretch>
            <a:fillRect/>
          </a:stretch>
        </p:blipFill>
        <p:spPr>
          <a:xfrm>
            <a:off x="4251960" y="1280160"/>
            <a:ext cx="4480560" cy="2640330"/>
          </a:xfrm>
          <a:prstGeom prst="rect">
            <a:avLst/>
          </a:prstGeom>
          <a:effectLst>
            <a:outerShdw sx="100000" sy="100000" kx="0" ky="0" algn="bl" rotWithShape="0" blurRad="88900" dist="25400" dir="2700000">
              <a:srgbClr val="000000">
                <a:alpha val="18000"/>
              </a:srgbClr>
            </a:outerShdw>
          </a:effectLst>
        </p:spPr>
      </p:pic>
      <p:sp>
        <p:nvSpPr>
          <p:cNvPr id="5" name="Text 2"/>
          <p:cNvSpPr/>
          <p:nvPr/>
        </p:nvSpPr>
        <p:spPr>
          <a:xfrm>
            <a:off x="4251960" y="3993642"/>
            <a:ext cx="4480560" cy="320040"/>
          </a:xfrm>
          <a:prstGeom prst="rect">
            <a:avLst/>
          </a:prstGeom>
          <a:noFill/>
          <a:ln/>
        </p:spPr>
        <p:txBody>
          <a:bodyPr wrap="square" lIns="0" tIns="0" rIns="0" bIns="0" rtlCol="0" anchor="ctr"/>
          <a:lstStyle/>
          <a:p>
            <a:pPr algn="ctr" indent="0" marL="0">
              <a:buNone/>
            </a:pPr>
            <a:r>
              <a:rPr lang="en-US" sz="1050" i="1" dirty="0">
                <a:solidFill>
                  <a:srgbClr val="768692"/>
                </a:solidFill>
                <a:latin typeface="Arial" pitchFamily="34" charset="0"/>
                <a:ea typeface="Arial" pitchFamily="34" charset="-122"/>
                <a:cs typeface="Arial" pitchFamily="34" charset="-120"/>
              </a:rPr>
              <a:t>Pick a topic, or take a bit of everything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The team diary and the service map</a:t>
            </a:r>
            <a:endParaRPr lang="en-US" sz="2800" dirty="0"/>
          </a:p>
        </p:txBody>
      </p:sp>
      <p:sp>
        <p:nvSpPr>
          <p:cNvPr id="3" name="Text 1"/>
          <p:cNvSpPr/>
          <p:nvPr/>
        </p:nvSpPr>
        <p:spPr>
          <a:xfrm>
            <a:off x="502920" y="932688"/>
            <a:ext cx="8138160" cy="411480"/>
          </a:xfrm>
          <a:prstGeom prst="rect">
            <a:avLst/>
          </a:prstGeom>
          <a:noFill/>
          <a:ln/>
        </p:spPr>
        <p:txBody>
          <a:bodyPr wrap="square" lIns="0" tIns="0" rIns="0" bIns="0" rtlCol="0" anchor="ctr"/>
          <a:lstStyle/>
          <a:p>
            <a:pPr indent="0" marL="0">
              <a:buNone/>
            </a:pPr>
            <a:r>
              <a:rPr lang="en-US" sz="1300" dirty="0">
                <a:solidFill>
                  <a:srgbClr val="425563"/>
                </a:solidFill>
                <a:latin typeface="Arial" pitchFamily="34" charset="0"/>
                <a:ea typeface="Arial" pitchFamily="34" charset="-122"/>
                <a:cs typeface="Arial" pitchFamily="34" charset="-120"/>
              </a:rPr>
              <a:t>Shared ward tasks that survive handover, and a live picture of which local services will actually take a person.</a:t>
            </a:r>
            <a:endParaRPr lang="en-US" sz="1300" dirty="0"/>
          </a:p>
        </p:txBody>
      </p:sp>
      <p:pic>
        <p:nvPicPr>
          <p:cNvPr id="4" name="Image 0" descr="Team diary week view with claimable tasks">    </p:cNvPr>
          <p:cNvPicPr>
            <a:picLocks noChangeAspect="1"/>
          </p:cNvPicPr>
          <p:nvPr/>
        </p:nvPicPr>
        <p:blipFill>
          <a:blip r:embed="rId1"/>
          <a:stretch>
            <a:fillRect/>
          </a:stretch>
        </p:blipFill>
        <p:spPr>
          <a:xfrm>
            <a:off x="502920" y="1481328"/>
            <a:ext cx="3977640" cy="2443407"/>
          </a:xfrm>
          <a:prstGeom prst="rect">
            <a:avLst/>
          </a:prstGeom>
          <a:effectLst>
            <a:outerShdw sx="100000" sy="100000" kx="0" ky="0" algn="bl" rotWithShape="0" blurRad="88900" dist="25400" dir="2700000">
              <a:srgbClr val="000000">
                <a:alpha val="18000"/>
              </a:srgbClr>
            </a:outerShdw>
          </a:effectLst>
        </p:spPr>
      </p:pic>
      <p:pic>
        <p:nvPicPr>
          <p:cNvPr id="5" name="Image 1" descr="Service map with eligibility filters">    </p:cNvPr>
          <p:cNvPicPr>
            <a:picLocks noChangeAspect="1"/>
          </p:cNvPicPr>
          <p:nvPr/>
        </p:nvPicPr>
        <p:blipFill>
          <a:blip r:embed="rId2"/>
          <a:stretch>
            <a:fillRect/>
          </a:stretch>
        </p:blipFill>
        <p:spPr>
          <a:xfrm>
            <a:off x="4663440" y="1481328"/>
            <a:ext cx="3977640" cy="2443407"/>
          </a:xfrm>
          <a:prstGeom prst="rect">
            <a:avLst/>
          </a:prstGeom>
          <a:effectLst>
            <a:outerShdw sx="100000" sy="100000" kx="0" ky="0" algn="bl" rotWithShape="0" blurRad="88900" dist="25400" dir="2700000">
              <a:srgbClr val="000000">
                <a:alpha val="18000"/>
              </a:srgbClr>
            </a:outerShdw>
          </a:effectLst>
        </p:spPr>
      </p:pic>
      <p:sp>
        <p:nvSpPr>
          <p:cNvPr id="6" name="Text 2"/>
          <p:cNvSpPr/>
          <p:nvPr/>
        </p:nvSpPr>
        <p:spPr>
          <a:xfrm>
            <a:off x="502920" y="4016175"/>
            <a:ext cx="3977640" cy="320040"/>
          </a:xfrm>
          <a:prstGeom prst="rect">
            <a:avLst/>
          </a:prstGeom>
          <a:noFill/>
          <a:ln/>
        </p:spPr>
        <p:txBody>
          <a:bodyPr wrap="square" lIns="0" tIns="0" rIns="0" bIns="0" rtlCol="0" anchor="ctr"/>
          <a:lstStyle/>
          <a:p>
            <a:pPr algn="ctr" indent="0" marL="0">
              <a:buNone/>
            </a:pPr>
            <a:r>
              <a:rPr lang="en-US" sz="1050" i="1" dirty="0">
                <a:solidFill>
                  <a:srgbClr val="768692"/>
                </a:solidFill>
                <a:latin typeface="Arial" pitchFamily="34" charset="0"/>
                <a:ea typeface="Arial" pitchFamily="34" charset="-122"/>
                <a:cs typeface="Arial" pitchFamily="34" charset="-120"/>
              </a:rPr>
              <a:t>Team diary: claim it, hand it over, tick it off</a:t>
            </a:r>
            <a:endParaRPr lang="en-US" sz="1050" dirty="0"/>
          </a:p>
        </p:txBody>
      </p:sp>
      <p:sp>
        <p:nvSpPr>
          <p:cNvPr id="7" name="Text 3"/>
          <p:cNvSpPr/>
          <p:nvPr/>
        </p:nvSpPr>
        <p:spPr>
          <a:xfrm>
            <a:off x="4663440" y="4016175"/>
            <a:ext cx="3977640" cy="320040"/>
          </a:xfrm>
          <a:prstGeom prst="rect">
            <a:avLst/>
          </a:prstGeom>
          <a:noFill/>
          <a:ln/>
        </p:spPr>
        <p:txBody>
          <a:bodyPr wrap="square" lIns="0" tIns="0" rIns="0" bIns="0" rtlCol="0" anchor="ctr"/>
          <a:lstStyle/>
          <a:p>
            <a:pPr algn="ctr" indent="0" marL="0">
              <a:buNone/>
            </a:pPr>
            <a:r>
              <a:rPr lang="en-US" sz="1050" i="1" dirty="0">
                <a:solidFill>
                  <a:srgbClr val="768692"/>
                </a:solidFill>
                <a:latin typeface="Arial" pitchFamily="34" charset="0"/>
                <a:ea typeface="Arial" pitchFamily="34" charset="-122"/>
                <a:cs typeface="Arial" pitchFamily="34" charset="-120"/>
              </a:rPr>
              <a:t>Service map: 109 services, filtered by the person's circumstances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Every guide wears its approval status</a:t>
            </a:r>
            <a:endParaRPr lang="en-US" sz="2800" dirty="0"/>
          </a:p>
        </p:txBody>
      </p:sp>
      <p:sp>
        <p:nvSpPr>
          <p:cNvPr id="3" name="Shape 1"/>
          <p:cNvSpPr/>
          <p:nvPr/>
        </p:nvSpPr>
        <p:spPr>
          <a:xfrm>
            <a:off x="640080" y="1371600"/>
            <a:ext cx="2514600" cy="2240280"/>
          </a:xfrm>
          <a:prstGeom prst="roundRect">
            <a:avLst>
              <a:gd name="adj" fmla="val 4082"/>
            </a:avLst>
          </a:prstGeom>
          <a:solidFill>
            <a:srgbClr val="FFFFFF"/>
          </a:solidFill>
          <a:ln w="12700">
            <a:solidFill>
              <a:srgbClr val="D5DDE1"/>
            </a:solidFill>
            <a:prstDash val="solid"/>
          </a:ln>
          <a:effectLst>
            <a:outerShdw sx="100000" sy="100000" kx="0" ky="0" algn="bl" rotWithShape="0" blurRad="88900" dist="25400" dir="2700000">
              <a:srgbClr val="000000">
                <a:alpha val="18000"/>
              </a:srgbClr>
            </a:outerShdw>
          </a:effectLst>
        </p:spPr>
      </p:sp>
      <p:sp>
        <p:nvSpPr>
          <p:cNvPr id="4" name="Shape 2"/>
          <p:cNvSpPr/>
          <p:nvPr/>
        </p:nvSpPr>
        <p:spPr>
          <a:xfrm>
            <a:off x="1645920" y="1645920"/>
            <a:ext cx="502920" cy="502920"/>
          </a:xfrm>
          <a:prstGeom prst="ellipse">
            <a:avLst/>
          </a:prstGeom>
          <a:solidFill>
            <a:srgbClr val="007F3B"/>
          </a:solidFill>
          <a:ln/>
        </p:spPr>
      </p:sp>
      <p:sp>
        <p:nvSpPr>
          <p:cNvPr id="5" name="Text 3"/>
          <p:cNvSpPr/>
          <p:nvPr/>
        </p:nvSpPr>
        <p:spPr>
          <a:xfrm>
            <a:off x="640080" y="2286000"/>
            <a:ext cx="2514600" cy="365760"/>
          </a:xfrm>
          <a:prstGeom prst="rect">
            <a:avLst/>
          </a:prstGeom>
          <a:noFill/>
          <a:ln/>
        </p:spPr>
        <p:txBody>
          <a:bodyPr wrap="square" lIns="0" tIns="0" rIns="0" bIns="0" rtlCol="0" anchor="ctr"/>
          <a:lstStyle/>
          <a:p>
            <a:pPr algn="ctr" indent="0" marL="0">
              <a:buNone/>
            </a:pPr>
            <a:r>
              <a:rPr lang="en-US" sz="1500" b="1" dirty="0">
                <a:solidFill>
                  <a:srgbClr val="212B32"/>
                </a:solidFill>
                <a:latin typeface="Arial" pitchFamily="34" charset="0"/>
                <a:ea typeface="Arial" pitchFamily="34" charset="-122"/>
                <a:cs typeface="Arial" pitchFamily="34" charset="-120"/>
              </a:rPr>
              <a:t>Passed</a:t>
            </a:r>
            <a:endParaRPr lang="en-US" sz="1500" dirty="0"/>
          </a:p>
        </p:txBody>
      </p:sp>
      <p:sp>
        <p:nvSpPr>
          <p:cNvPr id="6" name="Text 4"/>
          <p:cNvSpPr/>
          <p:nvPr/>
        </p:nvSpPr>
        <p:spPr>
          <a:xfrm>
            <a:off x="868680" y="2697480"/>
            <a:ext cx="2057400" cy="777240"/>
          </a:xfrm>
          <a:prstGeom prst="rect">
            <a:avLst/>
          </a:prstGeom>
          <a:noFill/>
          <a:ln/>
        </p:spPr>
        <p:txBody>
          <a:bodyPr wrap="square" lIns="0" tIns="0" rIns="0" bIns="0" rtlCol="0" anchor="ctr"/>
          <a:lstStyle/>
          <a:p>
            <a:pPr algn="ctr" indent="0" marL="0">
              <a:buNone/>
            </a:pPr>
            <a:r>
              <a:rPr lang="en-US" sz="1150" dirty="0">
                <a:solidFill>
                  <a:srgbClr val="425563"/>
                </a:solidFill>
                <a:latin typeface="Arial" pitchFamily="34" charset="0"/>
                <a:ea typeface="Arial" pitchFamily="34" charset="-122"/>
                <a:cs typeface="Arial" pitchFamily="34" charset="-120"/>
              </a:rPr>
              <a:t>Signed off. Safe to rely on.</a:t>
            </a:r>
            <a:endParaRPr lang="en-US" sz="1150" dirty="0"/>
          </a:p>
        </p:txBody>
      </p:sp>
      <p:sp>
        <p:nvSpPr>
          <p:cNvPr id="7" name="Shape 5"/>
          <p:cNvSpPr/>
          <p:nvPr/>
        </p:nvSpPr>
        <p:spPr>
          <a:xfrm>
            <a:off x="3337560" y="1371600"/>
            <a:ext cx="2514600" cy="2240280"/>
          </a:xfrm>
          <a:prstGeom prst="roundRect">
            <a:avLst>
              <a:gd name="adj" fmla="val 4082"/>
            </a:avLst>
          </a:prstGeom>
          <a:solidFill>
            <a:srgbClr val="FFFFFF"/>
          </a:solidFill>
          <a:ln w="12700">
            <a:solidFill>
              <a:srgbClr val="D5DDE1"/>
            </a:solidFill>
            <a:prstDash val="solid"/>
          </a:ln>
          <a:effectLst>
            <a:outerShdw sx="100000" sy="100000" kx="0" ky="0" algn="bl" rotWithShape="0" blurRad="88900" dist="25400" dir="2700000">
              <a:srgbClr val="000000">
                <a:alpha val="18000"/>
              </a:srgbClr>
            </a:outerShdw>
          </a:effectLst>
        </p:spPr>
      </p:sp>
      <p:sp>
        <p:nvSpPr>
          <p:cNvPr id="8" name="Shape 6"/>
          <p:cNvSpPr/>
          <p:nvPr/>
        </p:nvSpPr>
        <p:spPr>
          <a:xfrm>
            <a:off x="4343400" y="1645920"/>
            <a:ext cx="502920" cy="502920"/>
          </a:xfrm>
          <a:prstGeom prst="ellipse">
            <a:avLst/>
          </a:prstGeom>
          <a:solidFill>
            <a:srgbClr val="ED8B00"/>
          </a:solidFill>
          <a:ln/>
        </p:spPr>
      </p:sp>
      <p:sp>
        <p:nvSpPr>
          <p:cNvPr id="9" name="Text 7"/>
          <p:cNvSpPr/>
          <p:nvPr/>
        </p:nvSpPr>
        <p:spPr>
          <a:xfrm>
            <a:off x="3337560" y="2286000"/>
            <a:ext cx="2514600" cy="365760"/>
          </a:xfrm>
          <a:prstGeom prst="rect">
            <a:avLst/>
          </a:prstGeom>
          <a:noFill/>
          <a:ln/>
        </p:spPr>
        <p:txBody>
          <a:bodyPr wrap="square" lIns="0" tIns="0" rIns="0" bIns="0" rtlCol="0" anchor="ctr"/>
          <a:lstStyle/>
          <a:p>
            <a:pPr algn="ctr" indent="0" marL="0">
              <a:buNone/>
            </a:pPr>
            <a:r>
              <a:rPr lang="en-US" sz="1500" b="1" dirty="0">
                <a:solidFill>
                  <a:srgbClr val="212B32"/>
                </a:solidFill>
                <a:latin typeface="Arial" pitchFamily="34" charset="0"/>
                <a:ea typeface="Arial" pitchFamily="34" charset="-122"/>
                <a:cs typeface="Arial" pitchFamily="34" charset="-120"/>
              </a:rPr>
              <a:t>Awaiting approval</a:t>
            </a:r>
            <a:endParaRPr lang="en-US" sz="1500" dirty="0"/>
          </a:p>
        </p:txBody>
      </p:sp>
      <p:sp>
        <p:nvSpPr>
          <p:cNvPr id="10" name="Text 8"/>
          <p:cNvSpPr/>
          <p:nvPr/>
        </p:nvSpPr>
        <p:spPr>
          <a:xfrm>
            <a:off x="3566160" y="2697480"/>
            <a:ext cx="2057400" cy="777240"/>
          </a:xfrm>
          <a:prstGeom prst="rect">
            <a:avLst/>
          </a:prstGeom>
          <a:noFill/>
          <a:ln/>
        </p:spPr>
        <p:txBody>
          <a:bodyPr wrap="square" lIns="0" tIns="0" rIns="0" bIns="0" rtlCol="0" anchor="ctr"/>
          <a:lstStyle/>
          <a:p>
            <a:pPr algn="ctr" indent="0" marL="0">
              <a:buNone/>
            </a:pPr>
            <a:r>
              <a:rPr lang="en-US" sz="1150" dirty="0">
                <a:solidFill>
                  <a:srgbClr val="425563"/>
                </a:solidFill>
                <a:latin typeface="Arial" pitchFamily="34" charset="0"/>
                <a:ea typeface="Arial" pitchFamily="34" charset="-122"/>
                <a:cs typeface="Arial" pitchFamily="34" charset="-120"/>
              </a:rPr>
              <a:t>The default for new content. Visible on the tile, treat with care.</a:t>
            </a:r>
            <a:endParaRPr lang="en-US" sz="1150" dirty="0"/>
          </a:p>
        </p:txBody>
      </p:sp>
      <p:sp>
        <p:nvSpPr>
          <p:cNvPr id="11" name="Shape 9"/>
          <p:cNvSpPr/>
          <p:nvPr/>
        </p:nvSpPr>
        <p:spPr>
          <a:xfrm>
            <a:off x="6035040" y="1371600"/>
            <a:ext cx="2514600" cy="2240280"/>
          </a:xfrm>
          <a:prstGeom prst="roundRect">
            <a:avLst>
              <a:gd name="adj" fmla="val 4082"/>
            </a:avLst>
          </a:prstGeom>
          <a:solidFill>
            <a:srgbClr val="FFFFFF"/>
          </a:solidFill>
          <a:ln w="12700">
            <a:solidFill>
              <a:srgbClr val="D5DDE1"/>
            </a:solidFill>
            <a:prstDash val="solid"/>
          </a:ln>
          <a:effectLst>
            <a:outerShdw sx="100000" sy="100000" kx="0" ky="0" algn="bl" rotWithShape="0" blurRad="88900" dist="25400" dir="2700000">
              <a:srgbClr val="000000">
                <a:alpha val="18000"/>
              </a:srgbClr>
            </a:outerShdw>
          </a:effectLst>
        </p:spPr>
      </p:sp>
      <p:sp>
        <p:nvSpPr>
          <p:cNvPr id="12" name="Shape 10"/>
          <p:cNvSpPr/>
          <p:nvPr/>
        </p:nvSpPr>
        <p:spPr>
          <a:xfrm>
            <a:off x="7040880" y="1645920"/>
            <a:ext cx="502920" cy="502920"/>
          </a:xfrm>
          <a:prstGeom prst="ellipse">
            <a:avLst/>
          </a:prstGeom>
          <a:solidFill>
            <a:srgbClr val="DA291C"/>
          </a:solidFill>
          <a:ln/>
        </p:spPr>
      </p:sp>
      <p:sp>
        <p:nvSpPr>
          <p:cNvPr id="13" name="Text 11"/>
          <p:cNvSpPr/>
          <p:nvPr/>
        </p:nvSpPr>
        <p:spPr>
          <a:xfrm>
            <a:off x="6035040" y="2286000"/>
            <a:ext cx="2514600" cy="365760"/>
          </a:xfrm>
          <a:prstGeom prst="rect">
            <a:avLst/>
          </a:prstGeom>
          <a:noFill/>
          <a:ln/>
        </p:spPr>
        <p:txBody>
          <a:bodyPr wrap="square" lIns="0" tIns="0" rIns="0" bIns="0" rtlCol="0" anchor="ctr"/>
          <a:lstStyle/>
          <a:p>
            <a:pPr algn="ctr" indent="0" marL="0">
              <a:buNone/>
            </a:pPr>
            <a:r>
              <a:rPr lang="en-US" sz="1500" b="1" dirty="0">
                <a:solidFill>
                  <a:srgbClr val="212B32"/>
                </a:solidFill>
                <a:latin typeface="Arial" pitchFamily="34" charset="0"/>
                <a:ea typeface="Arial" pitchFamily="34" charset="-122"/>
                <a:cs typeface="Arial" pitchFamily="34" charset="-120"/>
              </a:rPr>
              <a:t>In development</a:t>
            </a:r>
            <a:endParaRPr lang="en-US" sz="1500" dirty="0"/>
          </a:p>
        </p:txBody>
      </p:sp>
      <p:sp>
        <p:nvSpPr>
          <p:cNvPr id="14" name="Text 12"/>
          <p:cNvSpPr/>
          <p:nvPr/>
        </p:nvSpPr>
        <p:spPr>
          <a:xfrm>
            <a:off x="6263640" y="2697480"/>
            <a:ext cx="2057400" cy="777240"/>
          </a:xfrm>
          <a:prstGeom prst="rect">
            <a:avLst/>
          </a:prstGeom>
          <a:noFill/>
          <a:ln/>
        </p:spPr>
        <p:txBody>
          <a:bodyPr wrap="square" lIns="0" tIns="0" rIns="0" bIns="0" rtlCol="0" anchor="ctr"/>
          <a:lstStyle/>
          <a:p>
            <a:pPr algn="ctr" indent="0" marL="0">
              <a:buNone/>
            </a:pPr>
            <a:r>
              <a:rPr lang="en-US" sz="1150" dirty="0">
                <a:solidFill>
                  <a:srgbClr val="425563"/>
                </a:solidFill>
                <a:latin typeface="Arial" pitchFamily="34" charset="0"/>
                <a:ea typeface="Arial" pitchFamily="34" charset="-122"/>
                <a:cs typeface="Arial" pitchFamily="34" charset="-120"/>
              </a:rPr>
              <a:t>A draft, and it says so before you open it.</a:t>
            </a:r>
            <a:endParaRPr lang="en-US" sz="1150" dirty="0"/>
          </a:p>
        </p:txBody>
      </p:sp>
      <p:sp>
        <p:nvSpPr>
          <p:cNvPr id="15" name="Text 13"/>
          <p:cNvSpPr/>
          <p:nvPr/>
        </p:nvSpPr>
        <p:spPr>
          <a:xfrm>
            <a:off x="640080" y="3977640"/>
            <a:ext cx="7863840" cy="685800"/>
          </a:xfrm>
          <a:prstGeom prst="rect">
            <a:avLst/>
          </a:prstGeom>
          <a:noFill/>
          <a:ln/>
        </p:spPr>
        <p:txBody>
          <a:bodyPr wrap="square" lIns="0" tIns="0" rIns="0" bIns="0" rtlCol="0" anchor="ctr"/>
          <a:lstStyle/>
          <a:p>
            <a:pPr algn="ctr" indent="0" marL="0">
              <a:buNone/>
            </a:pPr>
            <a:r>
              <a:rPr lang="en-US" sz="1300" b="1" dirty="0">
                <a:solidFill>
                  <a:srgbClr val="003087"/>
                </a:solidFill>
                <a:latin typeface="Arial" pitchFamily="34" charset="0"/>
                <a:ea typeface="Arial" pitchFamily="34" charset="-122"/>
                <a:cs typeface="Arial" pitchFamily="34" charset="-120"/>
              </a:rPr>
              <a:t>Content review is a feature of the product, not a spreadsheet kept somewhere else. One editable file controls every light, and changing it is an audited edit.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No patient data. Nothing leaves the device.</a:t>
            </a:r>
            <a:endParaRPr lang="en-US" sz="2800" dirty="0"/>
          </a:p>
        </p:txBody>
      </p:sp>
      <p:sp>
        <p:nvSpPr>
          <p:cNvPr id="3" name="Shape 1"/>
          <p:cNvSpPr/>
          <p:nvPr/>
        </p:nvSpPr>
        <p:spPr>
          <a:xfrm>
            <a:off x="640080" y="1325880"/>
            <a:ext cx="3566160" cy="2286000"/>
          </a:xfrm>
          <a:prstGeom prst="roundRect">
            <a:avLst>
              <a:gd name="adj" fmla="val 4800"/>
            </a:avLst>
          </a:prstGeom>
          <a:solidFill>
            <a:srgbClr val="EAF3FB"/>
          </a:solidFill>
          <a:ln w="19050">
            <a:solidFill>
              <a:srgbClr val="9CC3E5"/>
            </a:solidFill>
            <a:prstDash val="solid"/>
          </a:ln>
          <a:effectLst>
            <a:outerShdw sx="100000" sy="100000" kx="0" ky="0" algn="bl" rotWithShape="0" blurRad="88900" dist="25400" dir="2700000">
              <a:srgbClr val="000000">
                <a:alpha val="18000"/>
              </a:srgbClr>
            </a:outerShdw>
          </a:effectLst>
        </p:spPr>
      </p:sp>
      <p:sp>
        <p:nvSpPr>
          <p:cNvPr id="4" name="Text 2"/>
          <p:cNvSpPr/>
          <p:nvPr/>
        </p:nvSpPr>
        <p:spPr>
          <a:xfrm>
            <a:off x="640080" y="1481328"/>
            <a:ext cx="3566160" cy="365760"/>
          </a:xfrm>
          <a:prstGeom prst="rect">
            <a:avLst/>
          </a:prstGeom>
          <a:noFill/>
          <a:ln/>
        </p:spPr>
        <p:txBody>
          <a:bodyPr wrap="square" lIns="0" tIns="0" rIns="0" bIns="0" rtlCol="0" anchor="ctr"/>
          <a:lstStyle/>
          <a:p>
            <a:pPr algn="ctr" indent="0" marL="0">
              <a:buNone/>
            </a:pPr>
            <a:r>
              <a:rPr lang="en-US" sz="1400" b="1" dirty="0">
                <a:solidFill>
                  <a:srgbClr val="003087"/>
                </a:solidFill>
                <a:latin typeface="Arial" pitchFamily="34" charset="0"/>
                <a:ea typeface="Arial" pitchFamily="34" charset="-122"/>
                <a:cs typeface="Arial" pitchFamily="34" charset="-120"/>
              </a:rPr>
              <a:t>The user's own browser</a:t>
            </a:r>
            <a:endParaRPr lang="en-US" sz="1400" dirty="0"/>
          </a:p>
        </p:txBody>
      </p:sp>
      <p:sp>
        <p:nvSpPr>
          <p:cNvPr id="5" name="Text 3"/>
          <p:cNvSpPr/>
          <p:nvPr/>
        </p:nvSpPr>
        <p:spPr>
          <a:xfrm>
            <a:off x="960120" y="2057400"/>
            <a:ext cx="3017520" cy="1371600"/>
          </a:xfrm>
          <a:prstGeom prst="rect">
            <a:avLst/>
          </a:prstGeom>
          <a:noFill/>
          <a:ln/>
        </p:spPr>
        <p:txBody>
          <a:bodyPr wrap="square" lIns="0" tIns="0" rIns="0" bIns="0" rtlCol="0" anchor="ctr"/>
          <a:lstStyle/>
          <a:p>
            <a:pPr marL="342900" indent="-342900">
              <a:spcAft>
                <a:spcPts val="1000"/>
              </a:spcAft>
              <a:buSzPct val="100000"/>
              <a:buChar char="•"/>
            </a:pPr>
            <a:r>
              <a:rPr lang="en-US" sz="1200" dirty="0">
                <a:solidFill>
                  <a:srgbClr val="212B32"/>
                </a:solidFill>
                <a:latin typeface="Arial" pitchFamily="34" charset="0"/>
                <a:ea typeface="Arial" pitchFamily="34" charset="-122"/>
                <a:cs typeface="Arial" pitchFamily="34" charset="-120"/>
              </a:rPr>
              <a:t>Everything typed stays on the device</a:t>
            </a:r>
            <a:endParaRPr lang="en-US" sz="1200" dirty="0"/>
          </a:p>
          <a:p>
            <a:pPr marL="342900" indent="-342900">
              <a:spcAft>
                <a:spcPts val="1000"/>
              </a:spcAft>
              <a:buSzPct val="100000"/>
              <a:buChar char="•"/>
            </a:pPr>
            <a:r>
              <a:rPr lang="en-US" sz="1200" dirty="0">
                <a:solidFill>
                  <a:srgbClr val="212B32"/>
                </a:solidFill>
                <a:latin typeface="Arial" pitchFamily="34" charset="0"/>
                <a:ea typeface="Arial" pitchFamily="34" charset="-122"/>
                <a:cs typeface="Arial" pitchFamily="34" charset="-120"/>
              </a:rPr>
              <a:t>Demo diary wiped on refresh</a:t>
            </a:r>
            <a:endParaRPr lang="en-US" sz="1200" dirty="0"/>
          </a:p>
          <a:p>
            <a:pPr marL="342900" indent="-342900">
              <a:spcAft>
                <a:spcPts val="1000"/>
              </a:spcAft>
              <a:buSzPct val="100000"/>
              <a:buChar char="•"/>
            </a:pPr>
            <a:r>
              <a:rPr lang="en-US" sz="1200" dirty="0">
                <a:solidFill>
                  <a:srgbClr val="212B32"/>
                </a:solidFill>
                <a:latin typeface="Arial" pitchFamily="34" charset="0"/>
                <a:ea typeface="Arial" pitchFamily="34" charset="-122"/>
                <a:cs typeface="Arial" pitchFamily="34" charset="-120"/>
              </a:rPr>
              <a:t>One click clears the lot</a:t>
            </a:r>
            <a:endParaRPr lang="en-US" sz="1200" dirty="0"/>
          </a:p>
        </p:txBody>
      </p:sp>
      <p:sp>
        <p:nvSpPr>
          <p:cNvPr id="6" name="Shape 4"/>
          <p:cNvSpPr/>
          <p:nvPr/>
        </p:nvSpPr>
        <p:spPr>
          <a:xfrm>
            <a:off x="6309360" y="1691640"/>
            <a:ext cx="2194560" cy="1554480"/>
          </a:xfrm>
          <a:prstGeom prst="roundRect">
            <a:avLst>
              <a:gd name="adj" fmla="val 7059"/>
            </a:avLst>
          </a:prstGeom>
          <a:solidFill>
            <a:srgbClr val="E8EDEE"/>
          </a:solidFill>
          <a:ln w="12700">
            <a:solidFill>
              <a:srgbClr val="C7D2D8"/>
            </a:solidFill>
            <a:prstDash val="solid"/>
          </a:ln>
        </p:spPr>
      </p:sp>
      <p:sp>
        <p:nvSpPr>
          <p:cNvPr id="7" name="Text 5"/>
          <p:cNvSpPr/>
          <p:nvPr/>
        </p:nvSpPr>
        <p:spPr>
          <a:xfrm>
            <a:off x="6309360" y="1691640"/>
            <a:ext cx="2194560" cy="1554480"/>
          </a:xfrm>
          <a:prstGeom prst="rect">
            <a:avLst/>
          </a:prstGeom>
          <a:noFill/>
          <a:ln/>
        </p:spPr>
        <p:txBody>
          <a:bodyPr wrap="square" lIns="0" tIns="0" rIns="0" bIns="0" rtlCol="0" anchor="ctr"/>
          <a:lstStyle/>
          <a:p>
            <a:pPr algn="ctr" indent="0" marL="0">
              <a:buNone/>
            </a:pPr>
            <a:r>
              <a:rPr lang="en-US" sz="1300" b="1" dirty="0">
                <a:solidFill>
                  <a:srgbClr val="425563"/>
                </a:solidFill>
                <a:latin typeface="Arial" pitchFamily="34" charset="0"/>
                <a:ea typeface="Arial" pitchFamily="34" charset="-122"/>
                <a:cs typeface="Arial" pitchFamily="34" charset="-120"/>
              </a:rPr>
              <a:t>Any other server</a:t>
            </a:r>
            <a:endParaRPr lang="en-US" sz="1300" dirty="0"/>
          </a:p>
        </p:txBody>
      </p:sp>
      <p:sp>
        <p:nvSpPr>
          <p:cNvPr id="8" name="Shape 6"/>
          <p:cNvSpPr/>
          <p:nvPr/>
        </p:nvSpPr>
        <p:spPr>
          <a:xfrm>
            <a:off x="4206240" y="2468880"/>
            <a:ext cx="2103120" cy="0"/>
          </a:xfrm>
          <a:prstGeom prst="line">
            <a:avLst/>
          </a:prstGeom>
          <a:noFill/>
          <a:ln w="31750">
            <a:solidFill>
              <a:srgbClr val="768692"/>
            </a:solidFill>
            <a:prstDash val="solid"/>
            <a:tailEnd type="triangle"/>
          </a:ln>
        </p:spPr>
      </p:sp>
      <p:sp>
        <p:nvSpPr>
          <p:cNvPr id="9" name="Shape 7"/>
          <p:cNvSpPr/>
          <p:nvPr/>
        </p:nvSpPr>
        <p:spPr>
          <a:xfrm>
            <a:off x="4956048" y="2167128"/>
            <a:ext cx="603504" cy="603504"/>
          </a:xfrm>
          <a:prstGeom prst="ellipse">
            <a:avLst/>
          </a:prstGeom>
          <a:solidFill>
            <a:srgbClr val="DA291C"/>
          </a:solidFill>
          <a:ln/>
        </p:spPr>
      </p:sp>
      <p:sp>
        <p:nvSpPr>
          <p:cNvPr id="10" name="Text 8"/>
          <p:cNvSpPr/>
          <p:nvPr/>
        </p:nvSpPr>
        <p:spPr>
          <a:xfrm>
            <a:off x="4956048" y="2167128"/>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X</a:t>
            </a:r>
            <a:endParaRPr lang="en-US" sz="2000" dirty="0"/>
          </a:p>
        </p:txBody>
      </p:sp>
      <p:sp>
        <p:nvSpPr>
          <p:cNvPr id="11" name="Text 9"/>
          <p:cNvSpPr/>
          <p:nvPr/>
        </p:nvSpPr>
        <p:spPr>
          <a:xfrm>
            <a:off x="4251960" y="2971800"/>
            <a:ext cx="2011680" cy="1005840"/>
          </a:xfrm>
          <a:prstGeom prst="rect">
            <a:avLst/>
          </a:prstGeom>
          <a:noFill/>
          <a:ln/>
        </p:spPr>
        <p:txBody>
          <a:bodyPr wrap="square" lIns="0" tIns="0" rIns="0" bIns="0" rtlCol="0" anchor="ctr"/>
          <a:lstStyle/>
          <a:p>
            <a:pPr algn="ctr" indent="0" marL="0">
              <a:buNone/>
            </a:pPr>
            <a:r>
              <a:rPr lang="en-US" sz="1000" dirty="0">
                <a:solidFill>
                  <a:srgbClr val="425563"/>
                </a:solidFill>
                <a:latin typeface="Arial" pitchFamily="34" charset="0"/>
                <a:ea typeface="Arial" pitchFamily="34" charset="-122"/>
                <a:cs typeface="Arial" pitchFamily="34" charset="-120"/>
              </a:rPr>
              <a:t>Blocked by the Content Security Policy. The browser itself refuses to send data to any other host.</a:t>
            </a:r>
            <a:endParaRPr lang="en-US" sz="1000" dirty="0"/>
          </a:p>
        </p:txBody>
      </p:sp>
      <p:sp>
        <p:nvSpPr>
          <p:cNvPr id="12" name="Shape 10"/>
          <p:cNvSpPr/>
          <p:nvPr/>
        </p:nvSpPr>
        <p:spPr>
          <a:xfrm>
            <a:off x="640080" y="4160520"/>
            <a:ext cx="1828800" cy="384048"/>
          </a:xfrm>
          <a:prstGeom prst="roundRect">
            <a:avLst>
              <a:gd name="adj" fmla="val 50000"/>
            </a:avLst>
          </a:prstGeom>
          <a:solidFill>
            <a:srgbClr val="EAF3FB"/>
          </a:solidFill>
          <a:ln w="12700">
            <a:solidFill>
              <a:srgbClr val="C9DDF0"/>
            </a:solidFill>
            <a:prstDash val="solid"/>
          </a:ln>
        </p:spPr>
      </p:sp>
      <p:sp>
        <p:nvSpPr>
          <p:cNvPr id="13" name="Text 11"/>
          <p:cNvSpPr/>
          <p:nvPr/>
        </p:nvSpPr>
        <p:spPr>
          <a:xfrm>
            <a:off x="640080" y="4160520"/>
            <a:ext cx="1828800" cy="384048"/>
          </a:xfrm>
          <a:prstGeom prst="rect">
            <a:avLst/>
          </a:prstGeom>
          <a:noFill/>
          <a:ln/>
        </p:spPr>
        <p:txBody>
          <a:bodyPr wrap="square" lIns="0" tIns="0" rIns="0" bIns="0" rtlCol="0" anchor="ctr"/>
          <a:lstStyle/>
          <a:p>
            <a:pPr algn="ctr" indent="0" marL="0">
              <a:buNone/>
            </a:pPr>
            <a:r>
              <a:rPr lang="en-US" sz="1150" b="1" dirty="0">
                <a:solidFill>
                  <a:srgbClr val="003087"/>
                </a:solidFill>
                <a:latin typeface="Arial" pitchFamily="34" charset="0"/>
                <a:ea typeface="Arial" pitchFamily="34" charset="-122"/>
                <a:cs typeface="Arial" pitchFamily="34" charset="-120"/>
              </a:rPr>
              <a:t>No patient data</a:t>
            </a:r>
            <a:endParaRPr lang="en-US" sz="1150" dirty="0"/>
          </a:p>
        </p:txBody>
      </p:sp>
      <p:sp>
        <p:nvSpPr>
          <p:cNvPr id="14" name="Shape 12"/>
          <p:cNvSpPr/>
          <p:nvPr/>
        </p:nvSpPr>
        <p:spPr>
          <a:xfrm>
            <a:off x="2606040" y="4160520"/>
            <a:ext cx="1645920" cy="384048"/>
          </a:xfrm>
          <a:prstGeom prst="roundRect">
            <a:avLst>
              <a:gd name="adj" fmla="val 50000"/>
            </a:avLst>
          </a:prstGeom>
          <a:solidFill>
            <a:srgbClr val="EAF3FB"/>
          </a:solidFill>
          <a:ln w="12700">
            <a:solidFill>
              <a:srgbClr val="C9DDF0"/>
            </a:solidFill>
            <a:prstDash val="solid"/>
          </a:ln>
        </p:spPr>
      </p:sp>
      <p:sp>
        <p:nvSpPr>
          <p:cNvPr id="15" name="Text 13"/>
          <p:cNvSpPr/>
          <p:nvPr/>
        </p:nvSpPr>
        <p:spPr>
          <a:xfrm>
            <a:off x="2606040" y="4160520"/>
            <a:ext cx="1645920" cy="384048"/>
          </a:xfrm>
          <a:prstGeom prst="rect">
            <a:avLst/>
          </a:prstGeom>
          <a:noFill/>
          <a:ln/>
        </p:spPr>
        <p:txBody>
          <a:bodyPr wrap="square" lIns="0" tIns="0" rIns="0" bIns="0" rtlCol="0" anchor="ctr"/>
          <a:lstStyle/>
          <a:p>
            <a:pPr algn="ctr" indent="0" marL="0">
              <a:buNone/>
            </a:pPr>
            <a:r>
              <a:rPr lang="en-US" sz="1150" b="1" dirty="0">
                <a:solidFill>
                  <a:srgbClr val="003087"/>
                </a:solidFill>
                <a:latin typeface="Arial" pitchFamily="34" charset="0"/>
                <a:ea typeface="Arial" pitchFamily="34" charset="-122"/>
                <a:cs typeface="Arial" pitchFamily="34" charset="-120"/>
              </a:rPr>
              <a:t>No accounts</a:t>
            </a:r>
            <a:endParaRPr lang="en-US" sz="1150" dirty="0"/>
          </a:p>
        </p:txBody>
      </p:sp>
      <p:sp>
        <p:nvSpPr>
          <p:cNvPr id="16" name="Shape 14"/>
          <p:cNvSpPr/>
          <p:nvPr/>
        </p:nvSpPr>
        <p:spPr>
          <a:xfrm>
            <a:off x="4389120" y="4160520"/>
            <a:ext cx="1645920" cy="384048"/>
          </a:xfrm>
          <a:prstGeom prst="roundRect">
            <a:avLst>
              <a:gd name="adj" fmla="val 50000"/>
            </a:avLst>
          </a:prstGeom>
          <a:solidFill>
            <a:srgbClr val="EAF3FB"/>
          </a:solidFill>
          <a:ln w="12700">
            <a:solidFill>
              <a:srgbClr val="C9DDF0"/>
            </a:solidFill>
            <a:prstDash val="solid"/>
          </a:ln>
        </p:spPr>
      </p:sp>
      <p:sp>
        <p:nvSpPr>
          <p:cNvPr id="17" name="Text 15"/>
          <p:cNvSpPr/>
          <p:nvPr/>
        </p:nvSpPr>
        <p:spPr>
          <a:xfrm>
            <a:off x="4389120" y="4160520"/>
            <a:ext cx="1645920" cy="384048"/>
          </a:xfrm>
          <a:prstGeom prst="rect">
            <a:avLst/>
          </a:prstGeom>
          <a:noFill/>
          <a:ln/>
        </p:spPr>
        <p:txBody>
          <a:bodyPr wrap="square" lIns="0" tIns="0" rIns="0" bIns="0" rtlCol="0" anchor="ctr"/>
          <a:lstStyle/>
          <a:p>
            <a:pPr algn="ctr" indent="0" marL="0">
              <a:buNone/>
            </a:pPr>
            <a:r>
              <a:rPr lang="en-US" sz="1150" b="1" dirty="0">
                <a:solidFill>
                  <a:srgbClr val="003087"/>
                </a:solidFill>
                <a:latin typeface="Arial" pitchFamily="34" charset="0"/>
                <a:ea typeface="Arial" pitchFamily="34" charset="-122"/>
                <a:cs typeface="Arial" pitchFamily="34" charset="-120"/>
              </a:rPr>
              <a:t>No tracking</a:t>
            </a:r>
            <a:endParaRPr lang="en-US" sz="1150" dirty="0"/>
          </a:p>
        </p:txBody>
      </p:sp>
      <p:sp>
        <p:nvSpPr>
          <p:cNvPr id="18" name="Shape 16"/>
          <p:cNvSpPr/>
          <p:nvPr/>
        </p:nvSpPr>
        <p:spPr>
          <a:xfrm>
            <a:off x="6172200" y="4160520"/>
            <a:ext cx="2468880" cy="384048"/>
          </a:xfrm>
          <a:prstGeom prst="roundRect">
            <a:avLst>
              <a:gd name="adj" fmla="val 50000"/>
            </a:avLst>
          </a:prstGeom>
          <a:solidFill>
            <a:srgbClr val="E7F3EC"/>
          </a:solidFill>
          <a:ln w="12700">
            <a:solidFill>
              <a:srgbClr val="9CC9AE"/>
            </a:solidFill>
            <a:prstDash val="solid"/>
          </a:ln>
        </p:spPr>
      </p:sp>
      <p:sp>
        <p:nvSpPr>
          <p:cNvPr id="19" name="Text 17"/>
          <p:cNvSpPr/>
          <p:nvPr/>
        </p:nvSpPr>
        <p:spPr>
          <a:xfrm>
            <a:off x="6172200" y="4160520"/>
            <a:ext cx="2468880" cy="384048"/>
          </a:xfrm>
          <a:prstGeom prst="rect">
            <a:avLst/>
          </a:prstGeom>
          <a:noFill/>
          <a:ln/>
        </p:spPr>
        <p:txBody>
          <a:bodyPr wrap="square" lIns="0" tIns="0" rIns="0" bIns="0" rtlCol="0" anchor="ctr"/>
          <a:lstStyle/>
          <a:p>
            <a:pPr algn="ctr" indent="0" marL="0">
              <a:buNone/>
            </a:pPr>
            <a:r>
              <a:rPr lang="en-US" sz="1150" b="1" dirty="0">
                <a:solidFill>
                  <a:srgbClr val="007F3B"/>
                </a:solidFill>
                <a:latin typeface="Arial" pitchFamily="34" charset="0"/>
                <a:ea typeface="Arial" pitchFamily="34" charset="-122"/>
                <a:cs typeface="Arial" pitchFamily="34" charset="-120"/>
              </a:rPr>
              <a:t>Audited: the claim held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The homework is already written</a:t>
            </a:r>
            <a:endParaRPr lang="en-US" sz="2800" dirty="0"/>
          </a:p>
        </p:txBody>
      </p:sp>
      <p:sp>
        <p:nvSpPr>
          <p:cNvPr id="3" name="Shape 1"/>
          <p:cNvSpPr/>
          <p:nvPr/>
        </p:nvSpPr>
        <p:spPr>
          <a:xfrm>
            <a:off x="502920" y="1234440"/>
            <a:ext cx="2606040" cy="1234440"/>
          </a:xfrm>
          <a:prstGeom prst="roundRect">
            <a:avLst>
              <a:gd name="adj" fmla="val 5926"/>
            </a:avLst>
          </a:prstGeom>
          <a:solidFill>
            <a:srgbClr val="EAF3FB"/>
          </a:solidFill>
          <a:ln w="12700">
            <a:solidFill>
              <a:srgbClr val="C9DDF0"/>
            </a:solidFill>
            <a:prstDash val="solid"/>
          </a:ln>
        </p:spPr>
      </p:sp>
      <p:sp>
        <p:nvSpPr>
          <p:cNvPr id="4" name="Text 2"/>
          <p:cNvSpPr/>
          <p:nvPr/>
        </p:nvSpPr>
        <p:spPr>
          <a:xfrm>
            <a:off x="640080" y="1325880"/>
            <a:ext cx="2331720" cy="1051560"/>
          </a:xfrm>
          <a:prstGeom prst="rect">
            <a:avLst/>
          </a:prstGeom>
          <a:noFill/>
          <a:ln/>
        </p:spPr>
        <p:txBody>
          <a:bodyPr wrap="square" lIns="0" tIns="0" rIns="0" bIns="0" rtlCol="0" anchor="ctr"/>
          <a:lstStyle/>
          <a:p>
            <a:pPr indent="0" marL="0">
              <a:lnSpc>
                <a:spcPct val="105000"/>
              </a:lnSpc>
              <a:buNone/>
            </a:pPr>
            <a:r>
              <a:rPr lang="en-US" sz="1200" b="1" dirty="0">
                <a:solidFill>
                  <a:srgbClr val="003087"/>
                </a:solidFill>
                <a:latin typeface="Arial" pitchFamily="34" charset="0"/>
                <a:ea typeface="Arial" pitchFamily="34" charset="-122"/>
                <a:cs typeface="Arial" pitchFamily="34" charset="-120"/>
              </a:rPr>
              <a:t>DPIA draft</a:t>
            </a:r>
            <a:endParaRPr lang="en-US" sz="1200" dirty="0"/>
          </a:p>
          <a:p>
            <a:pPr indent="0" marL="0">
              <a:lnSpc>
                <a:spcPct val="105000"/>
              </a:lnSpc>
              <a:buNone/>
            </a:pPr>
            <a:r>
              <a:rPr lang="en-US" sz="1000" dirty="0">
                <a:solidFill>
                  <a:srgbClr val="425563"/>
                </a:solidFill>
                <a:latin typeface="Arial" pitchFamily="34" charset="0"/>
                <a:ea typeface="Arial" pitchFamily="34" charset="-122"/>
                <a:cs typeface="Arial" pitchFamily="34" charset="-120"/>
              </a:rPr>
              <a:t>ICO structure. Covers today's demo and the proposed live build.</a:t>
            </a:r>
            <a:endParaRPr lang="en-US" sz="1200" dirty="0"/>
          </a:p>
        </p:txBody>
      </p:sp>
      <p:sp>
        <p:nvSpPr>
          <p:cNvPr id="5" name="Shape 3"/>
          <p:cNvSpPr/>
          <p:nvPr/>
        </p:nvSpPr>
        <p:spPr>
          <a:xfrm>
            <a:off x="3246120" y="1234440"/>
            <a:ext cx="2606040" cy="1234440"/>
          </a:xfrm>
          <a:prstGeom prst="roundRect">
            <a:avLst>
              <a:gd name="adj" fmla="val 5926"/>
            </a:avLst>
          </a:prstGeom>
          <a:solidFill>
            <a:srgbClr val="EAF3FB"/>
          </a:solidFill>
          <a:ln w="12700">
            <a:solidFill>
              <a:srgbClr val="C9DDF0"/>
            </a:solidFill>
            <a:prstDash val="solid"/>
          </a:ln>
        </p:spPr>
      </p:sp>
      <p:sp>
        <p:nvSpPr>
          <p:cNvPr id="6" name="Text 4"/>
          <p:cNvSpPr/>
          <p:nvPr/>
        </p:nvSpPr>
        <p:spPr>
          <a:xfrm>
            <a:off x="3383280" y="1325880"/>
            <a:ext cx="2331720" cy="1051560"/>
          </a:xfrm>
          <a:prstGeom prst="rect">
            <a:avLst/>
          </a:prstGeom>
          <a:noFill/>
          <a:ln/>
        </p:spPr>
        <p:txBody>
          <a:bodyPr wrap="square" lIns="0" tIns="0" rIns="0" bIns="0" rtlCol="0" anchor="ctr"/>
          <a:lstStyle/>
          <a:p>
            <a:pPr indent="0" marL="0">
              <a:lnSpc>
                <a:spcPct val="105000"/>
              </a:lnSpc>
              <a:buNone/>
            </a:pPr>
            <a:r>
              <a:rPr lang="en-US" sz="1200" b="1" dirty="0">
                <a:solidFill>
                  <a:srgbClr val="003087"/>
                </a:solidFill>
                <a:latin typeface="Arial" pitchFamily="34" charset="0"/>
                <a:ea typeface="Arial" pitchFamily="34" charset="-122"/>
                <a:cs typeface="Arial" pitchFamily="34" charset="-120"/>
              </a:rPr>
              <a:t>Clinical safety hazard log</a:t>
            </a:r>
            <a:endParaRPr lang="en-US" sz="1200" dirty="0"/>
          </a:p>
          <a:p>
            <a:pPr indent="0" marL="0">
              <a:lnSpc>
                <a:spcPct val="105000"/>
              </a:lnSpc>
              <a:buNone/>
            </a:pPr>
            <a:r>
              <a:rPr lang="en-US" sz="1000" dirty="0">
                <a:solidFill>
                  <a:srgbClr val="425563"/>
                </a:solidFill>
                <a:latin typeface="Arial" pitchFamily="34" charset="0"/>
                <a:ea typeface="Arial" pitchFamily="34" charset="-122"/>
                <a:cs typeface="Arial" pitchFamily="34" charset="-120"/>
              </a:rPr>
              <a:t>DCB0129 set: hazard log, case report, management plan.</a:t>
            </a:r>
            <a:endParaRPr lang="en-US" sz="1200" dirty="0"/>
          </a:p>
        </p:txBody>
      </p:sp>
      <p:sp>
        <p:nvSpPr>
          <p:cNvPr id="7" name="Shape 5"/>
          <p:cNvSpPr/>
          <p:nvPr/>
        </p:nvSpPr>
        <p:spPr>
          <a:xfrm>
            <a:off x="5989320" y="1234440"/>
            <a:ext cx="2606040" cy="1234440"/>
          </a:xfrm>
          <a:prstGeom prst="roundRect">
            <a:avLst>
              <a:gd name="adj" fmla="val 5926"/>
            </a:avLst>
          </a:prstGeom>
          <a:solidFill>
            <a:srgbClr val="EAF3FB"/>
          </a:solidFill>
          <a:ln w="12700">
            <a:solidFill>
              <a:srgbClr val="C9DDF0"/>
            </a:solidFill>
            <a:prstDash val="solid"/>
          </a:ln>
        </p:spPr>
      </p:sp>
      <p:sp>
        <p:nvSpPr>
          <p:cNvPr id="8" name="Text 6"/>
          <p:cNvSpPr/>
          <p:nvPr/>
        </p:nvSpPr>
        <p:spPr>
          <a:xfrm>
            <a:off x="6126480" y="1325880"/>
            <a:ext cx="2331720" cy="1051560"/>
          </a:xfrm>
          <a:prstGeom prst="rect">
            <a:avLst/>
          </a:prstGeom>
          <a:noFill/>
          <a:ln/>
        </p:spPr>
        <p:txBody>
          <a:bodyPr wrap="square" lIns="0" tIns="0" rIns="0" bIns="0" rtlCol="0" anchor="ctr"/>
          <a:lstStyle/>
          <a:p>
            <a:pPr indent="0" marL="0">
              <a:lnSpc>
                <a:spcPct val="105000"/>
              </a:lnSpc>
              <a:buNone/>
            </a:pPr>
            <a:r>
              <a:rPr lang="en-US" sz="1200" b="1" dirty="0">
                <a:solidFill>
                  <a:srgbClr val="003087"/>
                </a:solidFill>
                <a:latin typeface="Arial" pitchFamily="34" charset="0"/>
                <a:ea typeface="Arial" pitchFamily="34" charset="-122"/>
                <a:cs typeface="Arial" pitchFamily="34" charset="-120"/>
              </a:rPr>
              <a:t>Security review</a:t>
            </a:r>
            <a:endParaRPr lang="en-US" sz="1200" dirty="0"/>
          </a:p>
          <a:p>
            <a:pPr indent="0" marL="0">
              <a:lnSpc>
                <a:spcPct val="105000"/>
              </a:lnSpc>
              <a:buNone/>
            </a:pPr>
            <a:r>
              <a:rPr lang="en-US" sz="1000" dirty="0">
                <a:solidFill>
                  <a:srgbClr val="425563"/>
                </a:solidFill>
                <a:latin typeface="Arial" pitchFamily="34" charset="0"/>
                <a:ea typeface="Arial" pitchFamily="34" charset="-122"/>
                <a:cs typeface="Arial" pitchFamily="34" charset="-120"/>
              </a:rPr>
              <a:t>Zero high-severity findings. The one medium was fixed the same day.</a:t>
            </a:r>
            <a:endParaRPr lang="en-US" sz="1200" dirty="0"/>
          </a:p>
        </p:txBody>
      </p:sp>
      <p:sp>
        <p:nvSpPr>
          <p:cNvPr id="9" name="Shape 7"/>
          <p:cNvSpPr/>
          <p:nvPr/>
        </p:nvSpPr>
        <p:spPr>
          <a:xfrm>
            <a:off x="502920" y="2651760"/>
            <a:ext cx="2606040" cy="1234440"/>
          </a:xfrm>
          <a:prstGeom prst="roundRect">
            <a:avLst>
              <a:gd name="adj" fmla="val 5926"/>
            </a:avLst>
          </a:prstGeom>
          <a:solidFill>
            <a:srgbClr val="EAF3FB"/>
          </a:solidFill>
          <a:ln w="12700">
            <a:solidFill>
              <a:srgbClr val="C9DDF0"/>
            </a:solidFill>
            <a:prstDash val="solid"/>
          </a:ln>
        </p:spPr>
      </p:sp>
      <p:sp>
        <p:nvSpPr>
          <p:cNvPr id="10" name="Text 8"/>
          <p:cNvSpPr/>
          <p:nvPr/>
        </p:nvSpPr>
        <p:spPr>
          <a:xfrm>
            <a:off x="640080" y="2743200"/>
            <a:ext cx="2331720" cy="1051560"/>
          </a:xfrm>
          <a:prstGeom prst="rect">
            <a:avLst/>
          </a:prstGeom>
          <a:noFill/>
          <a:ln/>
        </p:spPr>
        <p:txBody>
          <a:bodyPr wrap="square" lIns="0" tIns="0" rIns="0" bIns="0" rtlCol="0" anchor="ctr"/>
          <a:lstStyle/>
          <a:p>
            <a:pPr indent="0" marL="0">
              <a:lnSpc>
                <a:spcPct val="105000"/>
              </a:lnSpc>
              <a:buNone/>
            </a:pPr>
            <a:r>
              <a:rPr lang="en-US" sz="1200" b="1" dirty="0">
                <a:solidFill>
                  <a:srgbClr val="003087"/>
                </a:solidFill>
                <a:latin typeface="Arial" pitchFamily="34" charset="0"/>
                <a:ea typeface="Arial" pitchFamily="34" charset="-122"/>
                <a:cs typeface="Arial" pitchFamily="34" charset="-120"/>
              </a:rPr>
              <a:t>Accessibility statement</a:t>
            </a:r>
            <a:endParaRPr lang="en-US" sz="1200" dirty="0"/>
          </a:p>
          <a:p>
            <a:pPr indent="0" marL="0">
              <a:lnSpc>
                <a:spcPct val="105000"/>
              </a:lnSpc>
              <a:buNone/>
            </a:pPr>
            <a:r>
              <a:rPr lang="en-US" sz="1000" dirty="0">
                <a:solidFill>
                  <a:srgbClr val="425563"/>
                </a:solidFill>
                <a:latin typeface="Arial" pitchFamily="34" charset="0"/>
                <a:ea typeface="Arial" pitchFamily="34" charset="-122"/>
                <a:cs typeface="Arial" pitchFamily="34" charset="-120"/>
              </a:rPr>
              <a:t>WCAG 2.1 AA. Zero automated violations on every audited page.</a:t>
            </a:r>
            <a:endParaRPr lang="en-US" sz="1200" dirty="0"/>
          </a:p>
        </p:txBody>
      </p:sp>
      <p:sp>
        <p:nvSpPr>
          <p:cNvPr id="11" name="Shape 9"/>
          <p:cNvSpPr/>
          <p:nvPr/>
        </p:nvSpPr>
        <p:spPr>
          <a:xfrm>
            <a:off x="3246120" y="2651760"/>
            <a:ext cx="2606040" cy="1234440"/>
          </a:xfrm>
          <a:prstGeom prst="roundRect">
            <a:avLst>
              <a:gd name="adj" fmla="val 5926"/>
            </a:avLst>
          </a:prstGeom>
          <a:solidFill>
            <a:srgbClr val="EAF3FB"/>
          </a:solidFill>
          <a:ln w="12700">
            <a:solidFill>
              <a:srgbClr val="C9DDF0"/>
            </a:solidFill>
            <a:prstDash val="solid"/>
          </a:ln>
        </p:spPr>
      </p:sp>
      <p:sp>
        <p:nvSpPr>
          <p:cNvPr id="12" name="Text 10"/>
          <p:cNvSpPr/>
          <p:nvPr/>
        </p:nvSpPr>
        <p:spPr>
          <a:xfrm>
            <a:off x="3383280" y="2743200"/>
            <a:ext cx="2331720" cy="1051560"/>
          </a:xfrm>
          <a:prstGeom prst="rect">
            <a:avLst/>
          </a:prstGeom>
          <a:noFill/>
          <a:ln/>
        </p:spPr>
        <p:txBody>
          <a:bodyPr wrap="square" lIns="0" tIns="0" rIns="0" bIns="0" rtlCol="0" anchor="ctr"/>
          <a:lstStyle/>
          <a:p>
            <a:pPr indent="0" marL="0">
              <a:lnSpc>
                <a:spcPct val="105000"/>
              </a:lnSpc>
              <a:buNone/>
            </a:pPr>
            <a:r>
              <a:rPr lang="en-US" sz="1200" b="1" dirty="0">
                <a:solidFill>
                  <a:srgbClr val="003087"/>
                </a:solidFill>
                <a:latin typeface="Arial" pitchFamily="34" charset="0"/>
                <a:ea typeface="Arial" pitchFamily="34" charset="-122"/>
                <a:cs typeface="Arial" pitchFamily="34" charset="-120"/>
              </a:rPr>
              <a:t>Data governance audit</a:t>
            </a:r>
            <a:endParaRPr lang="en-US" sz="1200" dirty="0"/>
          </a:p>
          <a:p>
            <a:pPr indent="0" marL="0">
              <a:lnSpc>
                <a:spcPct val="105000"/>
              </a:lnSpc>
              <a:buNone/>
            </a:pPr>
            <a:r>
              <a:rPr lang="en-US" sz="1000" dirty="0">
                <a:solidFill>
                  <a:srgbClr val="425563"/>
                </a:solidFill>
                <a:latin typeface="Arial" pitchFamily="34" charset="0"/>
                <a:ea typeface="Arial" pitchFamily="34" charset="-122"/>
                <a:cs typeface="Arial" pitchFamily="34" charset="-120"/>
              </a:rPr>
              <a:t>Twelve findings, eleven fixed within the week. One awaits a decision.</a:t>
            </a:r>
            <a:endParaRPr lang="en-US" sz="1200" dirty="0"/>
          </a:p>
        </p:txBody>
      </p:sp>
      <p:sp>
        <p:nvSpPr>
          <p:cNvPr id="13" name="Shape 11"/>
          <p:cNvSpPr/>
          <p:nvPr/>
        </p:nvSpPr>
        <p:spPr>
          <a:xfrm>
            <a:off x="5989320" y="2651760"/>
            <a:ext cx="2606040" cy="1234440"/>
          </a:xfrm>
          <a:prstGeom prst="roundRect">
            <a:avLst>
              <a:gd name="adj" fmla="val 5926"/>
            </a:avLst>
          </a:prstGeom>
          <a:solidFill>
            <a:srgbClr val="EAF3FB"/>
          </a:solidFill>
          <a:ln w="12700">
            <a:solidFill>
              <a:srgbClr val="C9DDF0"/>
            </a:solidFill>
            <a:prstDash val="solid"/>
          </a:ln>
        </p:spPr>
      </p:sp>
      <p:sp>
        <p:nvSpPr>
          <p:cNvPr id="14" name="Text 12"/>
          <p:cNvSpPr/>
          <p:nvPr/>
        </p:nvSpPr>
        <p:spPr>
          <a:xfrm>
            <a:off x="6126480" y="2743200"/>
            <a:ext cx="2331720" cy="1051560"/>
          </a:xfrm>
          <a:prstGeom prst="rect">
            <a:avLst/>
          </a:prstGeom>
          <a:noFill/>
          <a:ln/>
        </p:spPr>
        <p:txBody>
          <a:bodyPr wrap="square" lIns="0" tIns="0" rIns="0" bIns="0" rtlCol="0" anchor="ctr"/>
          <a:lstStyle/>
          <a:p>
            <a:pPr indent="0" marL="0">
              <a:lnSpc>
                <a:spcPct val="105000"/>
              </a:lnSpc>
              <a:buNone/>
            </a:pPr>
            <a:r>
              <a:rPr lang="en-US" sz="1200" b="1" dirty="0">
                <a:solidFill>
                  <a:srgbClr val="003087"/>
                </a:solidFill>
                <a:latin typeface="Arial" pitchFamily="34" charset="0"/>
                <a:ea typeface="Arial" pitchFamily="34" charset="-122"/>
                <a:cs typeface="Arial" pitchFamily="34" charset="-120"/>
              </a:rPr>
              <a:t>Data inventory and rebuild pack</a:t>
            </a:r>
            <a:endParaRPr lang="en-US" sz="1200" dirty="0"/>
          </a:p>
          <a:p>
            <a:pPr indent="0" marL="0">
              <a:lnSpc>
                <a:spcPct val="105000"/>
              </a:lnSpc>
              <a:buNone/>
            </a:pPr>
            <a:r>
              <a:rPr lang="en-US" sz="1000" dirty="0">
                <a:solidFill>
                  <a:srgbClr val="425563"/>
                </a:solidFill>
                <a:latin typeface="Arial" pitchFamily="34" charset="0"/>
                <a:ea typeface="Arial" pitchFamily="34" charset="-122"/>
                <a:cs typeface="Arial" pitchFamily="34" charset="-120"/>
              </a:rPr>
              <a:t>Every content count measured. Hosting options costed and compared.</a:t>
            </a:r>
            <a:endParaRPr lang="en-US" sz="1200" dirty="0"/>
          </a:p>
        </p:txBody>
      </p:sp>
      <p:sp>
        <p:nvSpPr>
          <p:cNvPr id="15" name="Text 13"/>
          <p:cNvSpPr/>
          <p:nvPr/>
        </p:nvSpPr>
        <p:spPr>
          <a:xfrm>
            <a:off x="502920" y="4206240"/>
            <a:ext cx="8138160" cy="502920"/>
          </a:xfrm>
          <a:prstGeom prst="rect">
            <a:avLst/>
          </a:prstGeom>
          <a:noFill/>
          <a:ln/>
        </p:spPr>
        <p:txBody>
          <a:bodyPr wrap="square" lIns="0" tIns="0" rIns="0" bIns="0" rtlCol="0" anchor="ctr"/>
          <a:lstStyle/>
          <a:p>
            <a:pPr algn="ctr" indent="0" marL="0">
              <a:buNone/>
            </a:pPr>
            <a:r>
              <a:rPr lang="en-US" sz="1700" b="1" dirty="0">
                <a:solidFill>
                  <a:srgbClr val="005EB8"/>
                </a:solidFill>
                <a:latin typeface="Arial" pitchFamily="34" charset="0"/>
                <a:ea typeface="Arial" pitchFamily="34" charset="-122"/>
                <a:cs typeface="Arial" pitchFamily="34" charset="-120"/>
              </a:rPr>
              <a:t>It needs trust review, not trust writing.</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SystmOne stays the record</a:t>
            </a:r>
            <a:endParaRPr lang="en-US" sz="2800" dirty="0"/>
          </a:p>
        </p:txBody>
      </p:sp>
      <p:sp>
        <p:nvSpPr>
          <p:cNvPr id="3" name="Shape 1"/>
          <p:cNvSpPr/>
          <p:nvPr/>
        </p:nvSpPr>
        <p:spPr>
          <a:xfrm>
            <a:off x="731520" y="1554480"/>
            <a:ext cx="3200400" cy="1920240"/>
          </a:xfrm>
          <a:prstGeom prst="roundRect">
            <a:avLst>
              <a:gd name="adj" fmla="val 5714"/>
            </a:avLst>
          </a:prstGeom>
          <a:solidFill>
            <a:srgbClr val="EAF3FB"/>
          </a:solidFill>
          <a:ln w="19050">
            <a:solidFill>
              <a:srgbClr val="9CC3E5"/>
            </a:solidFill>
            <a:prstDash val="solid"/>
          </a:ln>
          <a:effectLst>
            <a:outerShdw sx="100000" sy="100000" kx="0" ky="0" algn="bl" rotWithShape="0" blurRad="88900" dist="25400" dir="2700000">
              <a:srgbClr val="000000">
                <a:alpha val="18000"/>
              </a:srgbClr>
            </a:outerShdw>
          </a:effectLst>
        </p:spPr>
      </p:sp>
      <p:sp>
        <p:nvSpPr>
          <p:cNvPr id="4" name="Text 2"/>
          <p:cNvSpPr/>
          <p:nvPr/>
        </p:nvSpPr>
        <p:spPr>
          <a:xfrm>
            <a:off x="960120" y="1828800"/>
            <a:ext cx="2743200" cy="1371600"/>
          </a:xfrm>
          <a:prstGeom prst="rect">
            <a:avLst/>
          </a:prstGeom>
          <a:noFill/>
          <a:ln/>
        </p:spPr>
        <p:txBody>
          <a:bodyPr wrap="square" lIns="0" tIns="0" rIns="0" bIns="0" rtlCol="0" anchor="ctr"/>
          <a:lstStyle/>
          <a:p>
            <a:pPr algn="ctr" indent="0" marL="0">
              <a:lnSpc>
                <a:spcPct val="115000"/>
              </a:lnSpc>
              <a:buNone/>
            </a:pPr>
            <a:r>
              <a:rPr lang="en-US" sz="2000" b="1" dirty="0">
                <a:solidFill>
                  <a:srgbClr val="003087"/>
                </a:solidFill>
                <a:latin typeface="Arial" pitchFamily="34" charset="0"/>
                <a:ea typeface="Arial" pitchFamily="34" charset="-122"/>
                <a:cs typeface="Arial" pitchFamily="34" charset="-120"/>
              </a:rPr>
              <a:t>wardHub</a:t>
            </a:r>
            <a:endParaRPr lang="en-US" sz="2000" dirty="0"/>
          </a:p>
          <a:p>
            <a:pPr algn="ctr" indent="0" marL="0">
              <a:lnSpc>
                <a:spcPct val="115000"/>
              </a:lnSpc>
              <a:buNone/>
            </a:pPr>
            <a:r>
              <a:rPr lang="en-US" sz="1200" dirty="0">
                <a:solidFill>
                  <a:srgbClr val="425563"/>
                </a:solidFill>
                <a:latin typeface="Arial" pitchFamily="34" charset="0"/>
                <a:ea typeface="Arial" pitchFamily="34" charset="-122"/>
                <a:cs typeface="Arial" pitchFamily="34" charset="-120"/>
              </a:rPr>
              <a:t>The ward's guidance and capture layer. Guides, checklists, prompts, drafts.</a:t>
            </a:r>
            <a:endParaRPr lang="en-US" sz="2000" dirty="0"/>
          </a:p>
        </p:txBody>
      </p:sp>
      <p:sp>
        <p:nvSpPr>
          <p:cNvPr id="5" name="Shape 3"/>
          <p:cNvSpPr/>
          <p:nvPr/>
        </p:nvSpPr>
        <p:spPr>
          <a:xfrm>
            <a:off x="3931920" y="2514600"/>
            <a:ext cx="1280160" cy="0"/>
          </a:xfrm>
          <a:prstGeom prst="line">
            <a:avLst/>
          </a:prstGeom>
          <a:noFill/>
          <a:ln w="38100">
            <a:solidFill>
              <a:srgbClr val="005EB8"/>
            </a:solidFill>
            <a:prstDash val="solid"/>
            <a:tailEnd type="triangle"/>
          </a:ln>
        </p:spPr>
      </p:sp>
      <p:sp>
        <p:nvSpPr>
          <p:cNvPr id="6" name="Text 4"/>
          <p:cNvSpPr/>
          <p:nvPr/>
        </p:nvSpPr>
        <p:spPr>
          <a:xfrm>
            <a:off x="3931920" y="1965960"/>
            <a:ext cx="1280160" cy="457200"/>
          </a:xfrm>
          <a:prstGeom prst="rect">
            <a:avLst/>
          </a:prstGeom>
          <a:noFill/>
          <a:ln/>
        </p:spPr>
        <p:txBody>
          <a:bodyPr wrap="square" lIns="0" tIns="0" rIns="0" bIns="0" rtlCol="0" anchor="ctr"/>
          <a:lstStyle/>
          <a:p>
            <a:pPr algn="ctr" indent="0" marL="0">
              <a:buNone/>
            </a:pPr>
            <a:r>
              <a:rPr lang="en-US" sz="1000" i="1" dirty="0">
                <a:solidFill>
                  <a:srgbClr val="005EB8"/>
                </a:solidFill>
                <a:latin typeface="Arial" pitchFamily="34" charset="0"/>
                <a:ea typeface="Arial" pitchFamily="34" charset="-122"/>
                <a:cs typeface="Arial" pitchFamily="34" charset="-120"/>
              </a:rPr>
              <a:t>copy to notes,</a:t>
            </a:r>
            <a:endParaRPr lang="en-US" sz="1000" dirty="0"/>
          </a:p>
          <a:p>
            <a:pPr algn="ctr" indent="0" marL="0">
              <a:buNone/>
            </a:pPr>
            <a:r>
              <a:rPr lang="en-US" sz="1000" i="1" dirty="0">
                <a:solidFill>
                  <a:srgbClr val="005EB8"/>
                </a:solidFill>
                <a:latin typeface="Arial" pitchFamily="34" charset="0"/>
                <a:ea typeface="Arial" pitchFamily="34" charset="-122"/>
                <a:cs typeface="Arial" pitchFamily="34" charset="-120"/>
              </a:rPr>
              <a:t>one click</a:t>
            </a:r>
            <a:endParaRPr lang="en-US" sz="1000" dirty="0"/>
          </a:p>
        </p:txBody>
      </p:sp>
      <p:sp>
        <p:nvSpPr>
          <p:cNvPr id="7" name="Shape 5"/>
          <p:cNvSpPr/>
          <p:nvPr/>
        </p:nvSpPr>
        <p:spPr>
          <a:xfrm>
            <a:off x="5212080" y="1554480"/>
            <a:ext cx="3200400" cy="1920240"/>
          </a:xfrm>
          <a:prstGeom prst="roundRect">
            <a:avLst>
              <a:gd name="adj" fmla="val 5714"/>
            </a:avLst>
          </a:prstGeom>
          <a:solidFill>
            <a:srgbClr val="FFFFFF"/>
          </a:solidFill>
          <a:ln w="25400">
            <a:solidFill>
              <a:srgbClr val="005EB8"/>
            </a:solidFill>
            <a:prstDash val="solid"/>
          </a:ln>
          <a:effectLst>
            <a:outerShdw sx="100000" sy="100000" kx="0" ky="0" algn="bl" rotWithShape="0" blurRad="88900" dist="25400" dir="2700000">
              <a:srgbClr val="000000">
                <a:alpha val="18000"/>
              </a:srgbClr>
            </a:outerShdw>
          </a:effectLst>
        </p:spPr>
      </p:sp>
      <p:sp>
        <p:nvSpPr>
          <p:cNvPr id="8" name="Text 6"/>
          <p:cNvSpPr/>
          <p:nvPr/>
        </p:nvSpPr>
        <p:spPr>
          <a:xfrm>
            <a:off x="5440680" y="1828800"/>
            <a:ext cx="2743200" cy="1371600"/>
          </a:xfrm>
          <a:prstGeom prst="rect">
            <a:avLst/>
          </a:prstGeom>
          <a:noFill/>
          <a:ln/>
        </p:spPr>
        <p:txBody>
          <a:bodyPr wrap="square" lIns="0" tIns="0" rIns="0" bIns="0" rtlCol="0" anchor="ctr"/>
          <a:lstStyle/>
          <a:p>
            <a:pPr algn="ctr" indent="0" marL="0">
              <a:lnSpc>
                <a:spcPct val="115000"/>
              </a:lnSpc>
              <a:buNone/>
            </a:pPr>
            <a:r>
              <a:rPr lang="en-US" sz="2000" b="1" dirty="0">
                <a:solidFill>
                  <a:srgbClr val="005EB8"/>
                </a:solidFill>
                <a:latin typeface="Arial" pitchFamily="34" charset="0"/>
                <a:ea typeface="Arial" pitchFamily="34" charset="-122"/>
                <a:cs typeface="Arial" pitchFamily="34" charset="-120"/>
              </a:rPr>
              <a:t>SystmOne</a:t>
            </a:r>
            <a:endParaRPr lang="en-US" sz="2000" dirty="0"/>
          </a:p>
          <a:p>
            <a:pPr algn="ctr" indent="0" marL="0">
              <a:lnSpc>
                <a:spcPct val="115000"/>
              </a:lnSpc>
              <a:buNone/>
            </a:pPr>
            <a:r>
              <a:rPr lang="en-US" sz="1200" dirty="0">
                <a:solidFill>
                  <a:srgbClr val="425563"/>
                </a:solidFill>
                <a:latin typeface="Arial" pitchFamily="34" charset="0"/>
                <a:ea typeface="Arial" pitchFamily="34" charset="-122"/>
                <a:cs typeface="Arial" pitchFamily="34" charset="-120"/>
              </a:rPr>
              <a:t>The clinical record. Unchanged, untouched, still the single source of truth.</a:t>
            </a:r>
            <a:endParaRPr lang="en-US" sz="2000" dirty="0"/>
          </a:p>
        </p:txBody>
      </p:sp>
      <p:sp>
        <p:nvSpPr>
          <p:cNvPr id="9" name="Text 7"/>
          <p:cNvSpPr/>
          <p:nvPr/>
        </p:nvSpPr>
        <p:spPr>
          <a:xfrm>
            <a:off x="731520" y="3931920"/>
            <a:ext cx="7680960" cy="548640"/>
          </a:xfrm>
          <a:prstGeom prst="rect">
            <a:avLst/>
          </a:prstGeom>
          <a:noFill/>
          <a:ln/>
        </p:spPr>
        <p:txBody>
          <a:bodyPr wrap="square" lIns="0" tIns="0" rIns="0" bIns="0" rtlCol="0" anchor="ctr"/>
          <a:lstStyle/>
          <a:p>
            <a:pPr algn="ctr" indent="0" marL="0">
              <a:buNone/>
            </a:pPr>
            <a:r>
              <a:rPr lang="en-US" sz="1400" b="1" dirty="0">
                <a:solidFill>
                  <a:srgbClr val="212B32"/>
                </a:solidFill>
                <a:latin typeface="Arial" pitchFamily="34" charset="0"/>
                <a:ea typeface="Arial" pitchFamily="34" charset="-122"/>
                <a:cs typeface="Arial" pitchFamily="34" charset="-120"/>
              </a:rPr>
              <a:t>wardHub holds the know-how. It helps staff write a better entry into the record, and stores none of it.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What it has cost the trust</a:t>
            </a:r>
            <a:endParaRPr lang="en-US" sz="2800" dirty="0"/>
          </a:p>
        </p:txBody>
      </p:sp>
      <p:sp>
        <p:nvSpPr>
          <p:cNvPr id="3" name="Text 1"/>
          <p:cNvSpPr/>
          <p:nvPr/>
        </p:nvSpPr>
        <p:spPr>
          <a:xfrm>
            <a:off x="640080" y="1371600"/>
            <a:ext cx="3108960" cy="2194560"/>
          </a:xfrm>
          <a:prstGeom prst="rect">
            <a:avLst/>
          </a:prstGeom>
          <a:noFill/>
          <a:ln/>
        </p:spPr>
        <p:txBody>
          <a:bodyPr wrap="square" lIns="0" tIns="0" rIns="0" bIns="0" rtlCol="0" anchor="ctr"/>
          <a:lstStyle/>
          <a:p>
            <a:pPr algn="ctr" indent="0" marL="0">
              <a:buNone/>
            </a:pPr>
            <a:r>
              <a:rPr lang="en-US" sz="11000" b="1" dirty="0">
                <a:solidFill>
                  <a:srgbClr val="005EB8"/>
                </a:solidFill>
                <a:latin typeface="Arial" pitchFamily="34" charset="0"/>
                <a:ea typeface="Arial" pitchFamily="34" charset="-122"/>
                <a:cs typeface="Arial" pitchFamily="34" charset="-120"/>
              </a:rPr>
              <a:t>£0</a:t>
            </a:r>
            <a:endParaRPr lang="en-US" sz="11000" dirty="0"/>
          </a:p>
        </p:txBody>
      </p:sp>
      <p:sp>
        <p:nvSpPr>
          <p:cNvPr id="4" name="Text 2"/>
          <p:cNvSpPr/>
          <p:nvPr/>
        </p:nvSpPr>
        <p:spPr>
          <a:xfrm>
            <a:off x="640080" y="3566160"/>
            <a:ext cx="3108960" cy="365760"/>
          </a:xfrm>
          <a:prstGeom prst="rect">
            <a:avLst/>
          </a:prstGeom>
          <a:noFill/>
          <a:ln/>
        </p:spPr>
        <p:txBody>
          <a:bodyPr wrap="square" lIns="0" tIns="0" rIns="0" bIns="0" rtlCol="0" anchor="ctr"/>
          <a:lstStyle/>
          <a:p>
            <a:pPr algn="ctr" indent="0" marL="0">
              <a:buNone/>
            </a:pPr>
            <a:r>
              <a:rPr lang="en-US" sz="1400" dirty="0">
                <a:solidFill>
                  <a:srgbClr val="768692"/>
                </a:solidFill>
                <a:latin typeface="Arial" pitchFamily="34" charset="0"/>
                <a:ea typeface="Arial" pitchFamily="34" charset="-122"/>
                <a:cs typeface="Arial" pitchFamily="34" charset="-120"/>
              </a:rPr>
              <a:t>to date</a:t>
            </a:r>
            <a:endParaRPr lang="en-US" sz="1400" dirty="0"/>
          </a:p>
        </p:txBody>
      </p:sp>
      <p:sp>
        <p:nvSpPr>
          <p:cNvPr id="5" name="Shape 3"/>
          <p:cNvSpPr/>
          <p:nvPr/>
        </p:nvSpPr>
        <p:spPr>
          <a:xfrm>
            <a:off x="4160520" y="1325880"/>
            <a:ext cx="4343400" cy="868680"/>
          </a:xfrm>
          <a:prstGeom prst="roundRect">
            <a:avLst>
              <a:gd name="adj" fmla="val 10526"/>
            </a:avLst>
          </a:prstGeom>
          <a:solidFill>
            <a:srgbClr val="EAF3FB"/>
          </a:solidFill>
          <a:ln w="12700">
            <a:solidFill>
              <a:srgbClr val="C9DDF0"/>
            </a:solidFill>
            <a:prstDash val="solid"/>
          </a:ln>
        </p:spPr>
      </p:sp>
      <p:sp>
        <p:nvSpPr>
          <p:cNvPr id="6" name="Text 4"/>
          <p:cNvSpPr/>
          <p:nvPr/>
        </p:nvSpPr>
        <p:spPr>
          <a:xfrm>
            <a:off x="4389120" y="1417320"/>
            <a:ext cx="3886200" cy="685800"/>
          </a:xfrm>
          <a:prstGeom prst="rect">
            <a:avLst/>
          </a:prstGeom>
          <a:noFill/>
          <a:ln/>
        </p:spPr>
        <p:txBody>
          <a:bodyPr wrap="square" lIns="0" tIns="0" rIns="0" bIns="0" rtlCol="0" anchor="ctr"/>
          <a:lstStyle/>
          <a:p>
            <a:pPr indent="0" marL="0">
              <a:buNone/>
            </a:pPr>
            <a:r>
              <a:rPr lang="en-US" sz="1350" b="1" dirty="0">
                <a:solidFill>
                  <a:srgbClr val="003087"/>
                </a:solidFill>
                <a:latin typeface="Arial" pitchFamily="34" charset="0"/>
                <a:ea typeface="Arial" pitchFamily="34" charset="-122"/>
                <a:cs typeface="Arial" pitchFamily="34" charset="-120"/>
              </a:rPr>
              <a:t>Built in my own time</a:t>
            </a:r>
            <a:endParaRPr lang="en-US" sz="1350" dirty="0"/>
          </a:p>
          <a:p>
            <a:pPr indent="0" marL="0">
              <a:buNone/>
            </a:pPr>
            <a:r>
              <a:rPr lang="en-US" sz="1100" dirty="0">
                <a:solidFill>
                  <a:srgbClr val="425563"/>
                </a:solidFill>
                <a:latin typeface="Arial" pitchFamily="34" charset="0"/>
                <a:ea typeface="Arial" pitchFamily="34" charset="-122"/>
                <a:cs typeface="Arial" pitchFamily="34" charset="-120"/>
              </a:rPr>
              <a:t>Evenings, nights and days off. No trust hours used.</a:t>
            </a:r>
            <a:endParaRPr lang="en-US" sz="1350" dirty="0"/>
          </a:p>
        </p:txBody>
      </p:sp>
      <p:sp>
        <p:nvSpPr>
          <p:cNvPr id="7" name="Shape 5"/>
          <p:cNvSpPr/>
          <p:nvPr/>
        </p:nvSpPr>
        <p:spPr>
          <a:xfrm>
            <a:off x="4160520" y="2377440"/>
            <a:ext cx="4343400" cy="868680"/>
          </a:xfrm>
          <a:prstGeom prst="roundRect">
            <a:avLst>
              <a:gd name="adj" fmla="val 10526"/>
            </a:avLst>
          </a:prstGeom>
          <a:solidFill>
            <a:srgbClr val="EAF3FB"/>
          </a:solidFill>
          <a:ln w="12700">
            <a:solidFill>
              <a:srgbClr val="C9DDF0"/>
            </a:solidFill>
            <a:prstDash val="solid"/>
          </a:ln>
        </p:spPr>
      </p:sp>
      <p:sp>
        <p:nvSpPr>
          <p:cNvPr id="8" name="Text 6"/>
          <p:cNvSpPr/>
          <p:nvPr/>
        </p:nvSpPr>
        <p:spPr>
          <a:xfrm>
            <a:off x="4389120" y="2468880"/>
            <a:ext cx="3886200" cy="685800"/>
          </a:xfrm>
          <a:prstGeom prst="rect">
            <a:avLst/>
          </a:prstGeom>
          <a:noFill/>
          <a:ln/>
        </p:spPr>
        <p:txBody>
          <a:bodyPr wrap="square" lIns="0" tIns="0" rIns="0" bIns="0" rtlCol="0" anchor="ctr"/>
          <a:lstStyle/>
          <a:p>
            <a:pPr indent="0" marL="0">
              <a:buNone/>
            </a:pPr>
            <a:r>
              <a:rPr lang="en-US" sz="1350" b="1" dirty="0">
                <a:solidFill>
                  <a:srgbClr val="003087"/>
                </a:solidFill>
                <a:latin typeface="Arial" pitchFamily="34" charset="0"/>
                <a:ea typeface="Arial" pitchFamily="34" charset="-122"/>
                <a:cs typeface="Arial" pitchFamily="34" charset="-120"/>
              </a:rPr>
              <a:t>Hosting costs pennies</a:t>
            </a:r>
            <a:endParaRPr lang="en-US" sz="1350" dirty="0"/>
          </a:p>
          <a:p>
            <a:pPr indent="0" marL="0">
              <a:buNone/>
            </a:pPr>
            <a:r>
              <a:rPr lang="en-US" sz="1100" dirty="0">
                <a:solidFill>
                  <a:srgbClr val="425563"/>
                </a:solidFill>
                <a:latin typeface="Arial" pitchFamily="34" charset="0"/>
                <a:ea typeface="Arial" pitchFamily="34" charset="-122"/>
                <a:cs typeface="Arial" pitchFamily="34" charset="-120"/>
              </a:rPr>
              <a:t>A static site. Trust hosting would cost about the same.</a:t>
            </a:r>
            <a:endParaRPr lang="en-US" sz="1350" dirty="0"/>
          </a:p>
        </p:txBody>
      </p:sp>
      <p:sp>
        <p:nvSpPr>
          <p:cNvPr id="9" name="Shape 7"/>
          <p:cNvSpPr/>
          <p:nvPr/>
        </p:nvSpPr>
        <p:spPr>
          <a:xfrm>
            <a:off x="4160520" y="3429000"/>
            <a:ext cx="4343400" cy="868680"/>
          </a:xfrm>
          <a:prstGeom prst="roundRect">
            <a:avLst>
              <a:gd name="adj" fmla="val 10526"/>
            </a:avLst>
          </a:prstGeom>
          <a:solidFill>
            <a:srgbClr val="EAF3FB"/>
          </a:solidFill>
          <a:ln w="12700">
            <a:solidFill>
              <a:srgbClr val="C9DDF0"/>
            </a:solidFill>
            <a:prstDash val="solid"/>
          </a:ln>
        </p:spPr>
      </p:sp>
      <p:sp>
        <p:nvSpPr>
          <p:cNvPr id="10" name="Text 8"/>
          <p:cNvSpPr/>
          <p:nvPr/>
        </p:nvSpPr>
        <p:spPr>
          <a:xfrm>
            <a:off x="4389120" y="3520440"/>
            <a:ext cx="3886200" cy="685800"/>
          </a:xfrm>
          <a:prstGeom prst="rect">
            <a:avLst/>
          </a:prstGeom>
          <a:noFill/>
          <a:ln/>
        </p:spPr>
        <p:txBody>
          <a:bodyPr wrap="square" lIns="0" tIns="0" rIns="0" bIns="0" rtlCol="0" anchor="ctr"/>
          <a:lstStyle/>
          <a:p>
            <a:pPr indent="0" marL="0">
              <a:buNone/>
            </a:pPr>
            <a:r>
              <a:rPr lang="en-US" sz="1350" b="1" dirty="0">
                <a:solidFill>
                  <a:srgbClr val="003087"/>
                </a:solidFill>
                <a:latin typeface="Arial" pitchFamily="34" charset="0"/>
                <a:ea typeface="Arial" pitchFamily="34" charset="-122"/>
                <a:cs typeface="Arial" pitchFamily="34" charset="-120"/>
              </a:rPr>
              <a:t>The ask is time, not money</a:t>
            </a:r>
            <a:endParaRPr lang="en-US" sz="1350" dirty="0"/>
          </a:p>
          <a:p>
            <a:pPr indent="0" marL="0">
              <a:buNone/>
            </a:pPr>
            <a:r>
              <a:rPr lang="en-US" sz="1100" dirty="0">
                <a:solidFill>
                  <a:srgbClr val="425563"/>
                </a:solidFill>
                <a:latin typeface="Arial" pitchFamily="34" charset="0"/>
                <a:ea typeface="Arial" pitchFamily="34" charset="-122"/>
                <a:cs typeface="Arial" pitchFamily="34" charset="-120"/>
              </a:rPr>
              <a:t>Review hours from IG and clinical safety, not budget.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Three asks</a:t>
            </a:r>
            <a:endParaRPr lang="en-US" sz="2800" dirty="0"/>
          </a:p>
        </p:txBody>
      </p:sp>
      <p:sp>
        <p:nvSpPr>
          <p:cNvPr id="3" name="Shape 1"/>
          <p:cNvSpPr/>
          <p:nvPr/>
        </p:nvSpPr>
        <p:spPr>
          <a:xfrm>
            <a:off x="640080" y="1234440"/>
            <a:ext cx="7863840" cy="1024128"/>
          </a:xfrm>
          <a:prstGeom prst="roundRect">
            <a:avLst>
              <a:gd name="adj" fmla="val 8929"/>
            </a:avLst>
          </a:prstGeom>
          <a:solidFill>
            <a:srgbClr val="FFFFFF"/>
          </a:solidFill>
          <a:ln w="12700">
            <a:solidFill>
              <a:srgbClr val="D5DDE1"/>
            </a:solidFill>
            <a:prstDash val="solid"/>
          </a:ln>
          <a:effectLst>
            <a:outerShdw sx="100000" sy="100000" kx="0" ky="0" algn="bl" rotWithShape="0" blurRad="88900" dist="25400" dir="2700000">
              <a:srgbClr val="000000">
                <a:alpha val="18000"/>
              </a:srgbClr>
            </a:outerShdw>
          </a:effectLst>
        </p:spPr>
      </p:sp>
      <p:sp>
        <p:nvSpPr>
          <p:cNvPr id="4" name="Shape 2"/>
          <p:cNvSpPr/>
          <p:nvPr/>
        </p:nvSpPr>
        <p:spPr>
          <a:xfrm>
            <a:off x="868680" y="1472184"/>
            <a:ext cx="548640" cy="548640"/>
          </a:xfrm>
          <a:prstGeom prst="ellipse">
            <a:avLst/>
          </a:prstGeom>
          <a:solidFill>
            <a:srgbClr val="005EB8"/>
          </a:solidFill>
          <a:ln/>
        </p:spPr>
      </p:sp>
      <p:sp>
        <p:nvSpPr>
          <p:cNvPr id="5" name="Text 3"/>
          <p:cNvSpPr/>
          <p:nvPr/>
        </p:nvSpPr>
        <p:spPr>
          <a:xfrm>
            <a:off x="868680" y="147218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645920" y="1362456"/>
            <a:ext cx="6675120" cy="822960"/>
          </a:xfrm>
          <a:prstGeom prst="rect">
            <a:avLst/>
          </a:prstGeom>
          <a:noFill/>
          <a:ln/>
        </p:spPr>
        <p:txBody>
          <a:bodyPr wrap="square" lIns="0" tIns="0" rIns="0" bIns="0" rtlCol="0" anchor="ctr"/>
          <a:lstStyle/>
          <a:p>
            <a:pPr indent="0" marL="0">
              <a:buNone/>
            </a:pPr>
            <a:r>
              <a:rPr lang="en-US" sz="1450" b="1" dirty="0">
                <a:solidFill>
                  <a:srgbClr val="212B32"/>
                </a:solidFill>
                <a:latin typeface="Arial" pitchFamily="34" charset="0"/>
                <a:ea typeface="Arial" pitchFamily="34" charset="-122"/>
                <a:cs typeface="Arial" pitchFamily="34" charset="-120"/>
              </a:rPr>
              <a:t>A named contact</a:t>
            </a:r>
            <a:endParaRPr lang="en-US" sz="1450" dirty="0"/>
          </a:p>
          <a:p>
            <a:pPr indent="0" marL="0">
              <a:buNone/>
            </a:pPr>
            <a:r>
              <a:rPr lang="en-US" sz="1150" dirty="0">
                <a:solidFill>
                  <a:srgbClr val="425563"/>
                </a:solidFill>
                <a:latin typeface="Arial" pitchFamily="34" charset="0"/>
                <a:ea typeface="Arial" pitchFamily="34" charset="-122"/>
                <a:cs typeface="Arial" pitchFamily="34" charset="-120"/>
              </a:rPr>
              <a:t>Someone from IG and clinical safety to review the prepared pack with me. The documents exist; they need trust review.</a:t>
            </a:r>
            <a:endParaRPr lang="en-US" sz="1450" dirty="0"/>
          </a:p>
        </p:txBody>
      </p:sp>
      <p:sp>
        <p:nvSpPr>
          <p:cNvPr id="7" name="Shape 5"/>
          <p:cNvSpPr/>
          <p:nvPr/>
        </p:nvSpPr>
        <p:spPr>
          <a:xfrm>
            <a:off x="640080" y="2441448"/>
            <a:ext cx="7863840" cy="1024128"/>
          </a:xfrm>
          <a:prstGeom prst="roundRect">
            <a:avLst>
              <a:gd name="adj" fmla="val 8929"/>
            </a:avLst>
          </a:prstGeom>
          <a:solidFill>
            <a:srgbClr val="FFFFFF"/>
          </a:solidFill>
          <a:ln w="12700">
            <a:solidFill>
              <a:srgbClr val="D5DDE1"/>
            </a:solidFill>
            <a:prstDash val="solid"/>
          </a:ln>
          <a:effectLst>
            <a:outerShdw sx="100000" sy="100000" kx="0" ky="0" algn="bl" rotWithShape="0" blurRad="88900" dist="25400" dir="2700000">
              <a:srgbClr val="000000">
                <a:alpha val="18000"/>
              </a:srgbClr>
            </a:outerShdw>
          </a:effectLst>
        </p:spPr>
      </p:sp>
      <p:sp>
        <p:nvSpPr>
          <p:cNvPr id="8" name="Shape 6"/>
          <p:cNvSpPr/>
          <p:nvPr/>
        </p:nvSpPr>
        <p:spPr>
          <a:xfrm>
            <a:off x="868680" y="2679192"/>
            <a:ext cx="548640" cy="548640"/>
          </a:xfrm>
          <a:prstGeom prst="ellipse">
            <a:avLst/>
          </a:prstGeom>
          <a:solidFill>
            <a:srgbClr val="005EB8"/>
          </a:solidFill>
          <a:ln/>
        </p:spPr>
      </p:sp>
      <p:sp>
        <p:nvSpPr>
          <p:cNvPr id="9" name="Text 7"/>
          <p:cNvSpPr/>
          <p:nvPr/>
        </p:nvSpPr>
        <p:spPr>
          <a:xfrm>
            <a:off x="868680" y="267919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645920" y="2569464"/>
            <a:ext cx="6675120" cy="822960"/>
          </a:xfrm>
          <a:prstGeom prst="rect">
            <a:avLst/>
          </a:prstGeom>
          <a:noFill/>
          <a:ln/>
        </p:spPr>
        <p:txBody>
          <a:bodyPr wrap="square" lIns="0" tIns="0" rIns="0" bIns="0" rtlCol="0" anchor="ctr"/>
          <a:lstStyle/>
          <a:p>
            <a:pPr indent="0" marL="0">
              <a:buNone/>
            </a:pPr>
            <a:r>
              <a:rPr lang="en-US" sz="1450" b="1" dirty="0">
                <a:solidFill>
                  <a:srgbClr val="212B32"/>
                </a:solidFill>
                <a:latin typeface="Arial" pitchFamily="34" charset="0"/>
                <a:ea typeface="Arial" pitchFamily="34" charset="-122"/>
                <a:cs typeface="Arial" pitchFamily="34" charset="-120"/>
              </a:rPr>
              <a:t>A pilot on one ward</a:t>
            </a:r>
            <a:endParaRPr lang="en-US" sz="1450" dirty="0"/>
          </a:p>
          <a:p>
            <a:pPr indent="0" marL="0">
              <a:buNone/>
            </a:pPr>
            <a:r>
              <a:rPr lang="en-US" sz="1150" dirty="0">
                <a:solidFill>
                  <a:srgbClr val="425563"/>
                </a:solidFill>
                <a:latin typeface="Arial" pitchFamily="34" charset="0"/>
                <a:ea typeface="Arial" pitchFamily="34" charset="-122"/>
                <a:cs typeface="Arial" pitchFamily="34" charset="-120"/>
              </a:rPr>
              <a:t>The no-patient-data build, on my ward, so we learn what staff actually use before anything bigger.</a:t>
            </a:r>
            <a:endParaRPr lang="en-US" sz="1450" dirty="0"/>
          </a:p>
        </p:txBody>
      </p:sp>
      <p:sp>
        <p:nvSpPr>
          <p:cNvPr id="11" name="Shape 9"/>
          <p:cNvSpPr/>
          <p:nvPr/>
        </p:nvSpPr>
        <p:spPr>
          <a:xfrm>
            <a:off x="640080" y="3648456"/>
            <a:ext cx="7863840" cy="1024128"/>
          </a:xfrm>
          <a:prstGeom prst="roundRect">
            <a:avLst>
              <a:gd name="adj" fmla="val 8929"/>
            </a:avLst>
          </a:prstGeom>
          <a:solidFill>
            <a:srgbClr val="FFFFFF"/>
          </a:solidFill>
          <a:ln w="12700">
            <a:solidFill>
              <a:srgbClr val="D5DDE1"/>
            </a:solidFill>
            <a:prstDash val="solid"/>
          </a:ln>
          <a:effectLst>
            <a:outerShdw sx="100000" sy="100000" kx="0" ky="0" algn="bl" rotWithShape="0" blurRad="88900" dist="25400" dir="2700000">
              <a:srgbClr val="000000">
                <a:alpha val="18000"/>
              </a:srgbClr>
            </a:outerShdw>
          </a:effectLst>
        </p:spPr>
      </p:sp>
      <p:sp>
        <p:nvSpPr>
          <p:cNvPr id="12" name="Shape 10"/>
          <p:cNvSpPr/>
          <p:nvPr/>
        </p:nvSpPr>
        <p:spPr>
          <a:xfrm>
            <a:off x="868680" y="3886200"/>
            <a:ext cx="548640" cy="548640"/>
          </a:xfrm>
          <a:prstGeom prst="ellipse">
            <a:avLst/>
          </a:prstGeom>
          <a:solidFill>
            <a:srgbClr val="005EB8"/>
          </a:solidFill>
          <a:ln/>
        </p:spPr>
      </p:sp>
      <p:sp>
        <p:nvSpPr>
          <p:cNvPr id="13" name="Text 11"/>
          <p:cNvSpPr/>
          <p:nvPr/>
        </p:nvSpPr>
        <p:spPr>
          <a:xfrm>
            <a:off x="868680" y="38862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645920" y="3776472"/>
            <a:ext cx="6675120" cy="822960"/>
          </a:xfrm>
          <a:prstGeom prst="rect">
            <a:avLst/>
          </a:prstGeom>
          <a:noFill/>
          <a:ln/>
        </p:spPr>
        <p:txBody>
          <a:bodyPr wrap="square" lIns="0" tIns="0" rIns="0" bIns="0" rtlCol="0" anchor="ctr"/>
          <a:lstStyle/>
          <a:p>
            <a:pPr indent="0" marL="0">
              <a:buNone/>
            </a:pPr>
            <a:r>
              <a:rPr lang="en-US" sz="1450" b="1" dirty="0">
                <a:solidFill>
                  <a:srgbClr val="212B32"/>
                </a:solidFill>
                <a:latin typeface="Arial" pitchFamily="34" charset="0"/>
                <a:ea typeface="Arial" pitchFamily="34" charset="-122"/>
                <a:cs typeface="Arial" pitchFamily="34" charset="-120"/>
              </a:rPr>
              <a:t>A decision path for hosting</a:t>
            </a:r>
            <a:endParaRPr lang="en-US" sz="1450" dirty="0"/>
          </a:p>
          <a:p>
            <a:pPr indent="0" marL="0">
              <a:buNone/>
            </a:pPr>
            <a:r>
              <a:rPr lang="en-US" sz="1150" dirty="0">
                <a:solidFill>
                  <a:srgbClr val="425563"/>
                </a:solidFill>
                <a:latin typeface="Arial" pitchFamily="34" charset="0"/>
                <a:ea typeface="Arial" pitchFamily="34" charset="-122"/>
                <a:cs typeface="Arial" pitchFamily="34" charset="-120"/>
              </a:rPr>
              <a:t>Agree the route to running wardHub inside the trust boundary, so the 'nothing leaves' claim becomes 'nothing leaves the trust'.</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8138160" cy="640080"/>
          </a:xfrm>
          <a:prstGeom prst="rect">
            <a:avLst/>
          </a:prstGeom>
          <a:noFill/>
          <a:ln/>
        </p:spPr>
        <p:txBody>
          <a:bodyPr wrap="square" lIns="0" tIns="0" rIns="0" bIns="0" rtlCol="0" anchor="ctr"/>
          <a:lstStyle/>
          <a:p>
            <a:pPr indent="0" marL="0">
              <a:buNone/>
            </a:pPr>
            <a:r>
              <a:rPr lang="en-US" sz="2800" b="1" dirty="0">
                <a:solidFill>
                  <a:srgbClr val="005EB8"/>
                </a:solidFill>
                <a:latin typeface="Arial" pitchFamily="34" charset="0"/>
                <a:ea typeface="Arial" pitchFamily="34" charset="-122"/>
                <a:cs typeface="Arial" pitchFamily="34" charset="-120"/>
              </a:rPr>
              <a:t>If the trust says yes</a:t>
            </a:r>
            <a:endParaRPr lang="en-US" sz="2800" dirty="0"/>
          </a:p>
        </p:txBody>
      </p:sp>
      <p:sp>
        <p:nvSpPr>
          <p:cNvPr id="3" name="Shape 1"/>
          <p:cNvSpPr/>
          <p:nvPr/>
        </p:nvSpPr>
        <p:spPr>
          <a:xfrm>
            <a:off x="502920" y="1554480"/>
            <a:ext cx="1828800" cy="1600200"/>
          </a:xfrm>
          <a:prstGeom prst="roundRect">
            <a:avLst>
              <a:gd name="adj" fmla="val 5714"/>
            </a:avLst>
          </a:prstGeom>
          <a:solidFill>
            <a:srgbClr val="EAF3FB"/>
          </a:solidFill>
          <a:ln w="15875">
            <a:solidFill>
              <a:srgbClr val="C9DDF0"/>
            </a:solidFill>
            <a:prstDash val="solid"/>
          </a:ln>
          <a:effectLst>
            <a:outerShdw sx="100000" sy="100000" kx="0" ky="0" algn="bl" rotWithShape="0" blurRad="88900" dist="25400" dir="2700000">
              <a:srgbClr val="000000">
                <a:alpha val="18000"/>
              </a:srgbClr>
            </a:outerShdw>
          </a:effectLst>
        </p:spPr>
      </p:sp>
      <p:sp>
        <p:nvSpPr>
          <p:cNvPr id="4" name="Text 2"/>
          <p:cNvSpPr/>
          <p:nvPr/>
        </p:nvSpPr>
        <p:spPr>
          <a:xfrm>
            <a:off x="640080" y="1691640"/>
            <a:ext cx="457200" cy="411480"/>
          </a:xfrm>
          <a:prstGeom prst="rect">
            <a:avLst/>
          </a:prstGeom>
          <a:noFill/>
          <a:ln/>
        </p:spPr>
        <p:txBody>
          <a:bodyPr wrap="square" lIns="0" tIns="0" rIns="0" bIns="0" rtlCol="0" anchor="ctr"/>
          <a:lstStyle/>
          <a:p>
            <a:pPr indent="0" marL="0">
              <a:buNone/>
            </a:pPr>
            <a:r>
              <a:rPr lang="en-US" sz="2200" b="1" dirty="0">
                <a:solidFill>
                  <a:srgbClr val="41B6E6"/>
                </a:solidFill>
                <a:latin typeface="Arial" pitchFamily="34" charset="0"/>
                <a:ea typeface="Arial" pitchFamily="34" charset="-122"/>
                <a:cs typeface="Arial" pitchFamily="34" charset="-120"/>
              </a:rPr>
              <a:t>1</a:t>
            </a:r>
            <a:endParaRPr lang="en-US" sz="2200" dirty="0"/>
          </a:p>
        </p:txBody>
      </p:sp>
      <p:sp>
        <p:nvSpPr>
          <p:cNvPr id="5" name="Text 3"/>
          <p:cNvSpPr/>
          <p:nvPr/>
        </p:nvSpPr>
        <p:spPr>
          <a:xfrm>
            <a:off x="667512" y="2148840"/>
            <a:ext cx="1499616" cy="914400"/>
          </a:xfrm>
          <a:prstGeom prst="rect">
            <a:avLst/>
          </a:prstGeom>
          <a:noFill/>
          <a:ln/>
        </p:spPr>
        <p:txBody>
          <a:bodyPr wrap="square" lIns="0" tIns="0" rIns="0" bIns="0" rtlCol="0" anchor="ctr"/>
          <a:lstStyle/>
          <a:p>
            <a:pPr indent="0" marL="0">
              <a:lnSpc>
                <a:spcPct val="105000"/>
              </a:lnSpc>
              <a:buNone/>
            </a:pPr>
            <a:r>
              <a:rPr lang="en-US" sz="1350" b="1" dirty="0">
                <a:solidFill>
                  <a:srgbClr val="003087"/>
                </a:solidFill>
                <a:latin typeface="Arial" pitchFamily="34" charset="0"/>
                <a:ea typeface="Arial" pitchFamily="34" charset="-122"/>
                <a:cs typeface="Arial" pitchFamily="34" charset="-120"/>
              </a:rPr>
              <a:t>Trust login</a:t>
            </a:r>
            <a:endParaRPr lang="en-US" sz="1350" dirty="0"/>
          </a:p>
          <a:p>
            <a:pPr indent="0" marL="0">
              <a:lnSpc>
                <a:spcPct val="105000"/>
              </a:lnSpc>
              <a:buNone/>
            </a:pPr>
            <a:r>
              <a:rPr lang="en-US" sz="1050" dirty="0">
                <a:solidFill>
                  <a:srgbClr val="425563"/>
                </a:solidFill>
                <a:latin typeface="Arial" pitchFamily="34" charset="0"/>
                <a:ea typeface="Arial" pitchFamily="34" charset="-122"/>
                <a:cs typeface="Arial" pitchFamily="34" charset="-120"/>
              </a:rPr>
              <a:t>Single sign-on with trust accounts</a:t>
            </a:r>
            <a:endParaRPr lang="en-US" sz="1350" dirty="0"/>
          </a:p>
        </p:txBody>
      </p:sp>
      <p:sp>
        <p:nvSpPr>
          <p:cNvPr id="6" name="Shape 4"/>
          <p:cNvSpPr/>
          <p:nvPr/>
        </p:nvSpPr>
        <p:spPr>
          <a:xfrm>
            <a:off x="2368296" y="2359152"/>
            <a:ext cx="201168" cy="0"/>
          </a:xfrm>
          <a:prstGeom prst="line">
            <a:avLst/>
          </a:prstGeom>
          <a:noFill/>
          <a:ln w="25400">
            <a:solidFill>
              <a:srgbClr val="768692"/>
            </a:solidFill>
            <a:prstDash val="solid"/>
            <a:tailEnd type="triangle"/>
          </a:ln>
        </p:spPr>
      </p:sp>
      <p:sp>
        <p:nvSpPr>
          <p:cNvPr id="7" name="Shape 5"/>
          <p:cNvSpPr/>
          <p:nvPr/>
        </p:nvSpPr>
        <p:spPr>
          <a:xfrm>
            <a:off x="2606040" y="1554480"/>
            <a:ext cx="1828800" cy="1600200"/>
          </a:xfrm>
          <a:prstGeom prst="roundRect">
            <a:avLst>
              <a:gd name="adj" fmla="val 5714"/>
            </a:avLst>
          </a:prstGeom>
          <a:solidFill>
            <a:srgbClr val="EAF3FB"/>
          </a:solidFill>
          <a:ln w="15875">
            <a:solidFill>
              <a:srgbClr val="C9DDF0"/>
            </a:solidFill>
            <a:prstDash val="solid"/>
          </a:ln>
          <a:effectLst>
            <a:outerShdw sx="100000" sy="100000" kx="0" ky="0" algn="bl" rotWithShape="0" blurRad="88900" dist="25400" dir="2700000">
              <a:srgbClr val="000000">
                <a:alpha val="18000"/>
              </a:srgbClr>
            </a:outerShdw>
          </a:effectLst>
        </p:spPr>
      </p:sp>
      <p:sp>
        <p:nvSpPr>
          <p:cNvPr id="8" name="Text 6"/>
          <p:cNvSpPr/>
          <p:nvPr/>
        </p:nvSpPr>
        <p:spPr>
          <a:xfrm>
            <a:off x="2743200" y="1691640"/>
            <a:ext cx="457200" cy="411480"/>
          </a:xfrm>
          <a:prstGeom prst="rect">
            <a:avLst/>
          </a:prstGeom>
          <a:noFill/>
          <a:ln/>
        </p:spPr>
        <p:txBody>
          <a:bodyPr wrap="square" lIns="0" tIns="0" rIns="0" bIns="0" rtlCol="0" anchor="ctr"/>
          <a:lstStyle/>
          <a:p>
            <a:pPr indent="0" marL="0">
              <a:buNone/>
            </a:pPr>
            <a:r>
              <a:rPr lang="en-US" sz="2200" b="1" dirty="0">
                <a:solidFill>
                  <a:srgbClr val="41B6E6"/>
                </a:solidFill>
                <a:latin typeface="Arial" pitchFamily="34" charset="0"/>
                <a:ea typeface="Arial" pitchFamily="34" charset="-122"/>
                <a:cs typeface="Arial" pitchFamily="34" charset="-120"/>
              </a:rPr>
              <a:t>2</a:t>
            </a:r>
            <a:endParaRPr lang="en-US" sz="2200" dirty="0"/>
          </a:p>
        </p:txBody>
      </p:sp>
      <p:sp>
        <p:nvSpPr>
          <p:cNvPr id="9" name="Text 7"/>
          <p:cNvSpPr/>
          <p:nvPr/>
        </p:nvSpPr>
        <p:spPr>
          <a:xfrm>
            <a:off x="2770632" y="2148840"/>
            <a:ext cx="1499616" cy="914400"/>
          </a:xfrm>
          <a:prstGeom prst="rect">
            <a:avLst/>
          </a:prstGeom>
          <a:noFill/>
          <a:ln/>
        </p:spPr>
        <p:txBody>
          <a:bodyPr wrap="square" lIns="0" tIns="0" rIns="0" bIns="0" rtlCol="0" anchor="ctr"/>
          <a:lstStyle/>
          <a:p>
            <a:pPr indent="0" marL="0">
              <a:lnSpc>
                <a:spcPct val="105000"/>
              </a:lnSpc>
              <a:buNone/>
            </a:pPr>
            <a:r>
              <a:rPr lang="en-US" sz="1350" b="1" dirty="0">
                <a:solidFill>
                  <a:srgbClr val="003087"/>
                </a:solidFill>
                <a:latin typeface="Arial" pitchFamily="34" charset="0"/>
                <a:ea typeface="Arial" pitchFamily="34" charset="-122"/>
                <a:cs typeface="Arial" pitchFamily="34" charset="-120"/>
              </a:rPr>
              <a:t>Trust hosting</a:t>
            </a:r>
            <a:endParaRPr lang="en-US" sz="1350" dirty="0"/>
          </a:p>
          <a:p>
            <a:pPr indent="0" marL="0">
              <a:lnSpc>
                <a:spcPct val="105000"/>
              </a:lnSpc>
              <a:buNone/>
            </a:pPr>
            <a:r>
              <a:rPr lang="en-US" sz="1050" dirty="0">
                <a:solidFill>
                  <a:srgbClr val="425563"/>
                </a:solidFill>
                <a:latin typeface="Arial" pitchFamily="34" charset="0"/>
                <a:ea typeface="Arial" pitchFamily="34" charset="-122"/>
                <a:cs typeface="Arial" pitchFamily="34" charset="-120"/>
              </a:rPr>
              <a:t>Data and logs inside the trust boundary</a:t>
            </a:r>
            <a:endParaRPr lang="en-US" sz="1350" dirty="0"/>
          </a:p>
        </p:txBody>
      </p:sp>
      <p:sp>
        <p:nvSpPr>
          <p:cNvPr id="10" name="Shape 8"/>
          <p:cNvSpPr/>
          <p:nvPr/>
        </p:nvSpPr>
        <p:spPr>
          <a:xfrm>
            <a:off x="4471416" y="2359152"/>
            <a:ext cx="201168" cy="0"/>
          </a:xfrm>
          <a:prstGeom prst="line">
            <a:avLst/>
          </a:prstGeom>
          <a:noFill/>
          <a:ln w="25400">
            <a:solidFill>
              <a:srgbClr val="768692"/>
            </a:solidFill>
            <a:prstDash val="solid"/>
            <a:tailEnd type="triangle"/>
          </a:ln>
        </p:spPr>
      </p:sp>
      <p:sp>
        <p:nvSpPr>
          <p:cNvPr id="11" name="Shape 9"/>
          <p:cNvSpPr/>
          <p:nvPr/>
        </p:nvSpPr>
        <p:spPr>
          <a:xfrm>
            <a:off x="4709160" y="1554480"/>
            <a:ext cx="1828800" cy="1600200"/>
          </a:xfrm>
          <a:prstGeom prst="roundRect">
            <a:avLst>
              <a:gd name="adj" fmla="val 5714"/>
            </a:avLst>
          </a:prstGeom>
          <a:solidFill>
            <a:srgbClr val="EAF3FB"/>
          </a:solidFill>
          <a:ln w="15875">
            <a:solidFill>
              <a:srgbClr val="C9DDF0"/>
            </a:solidFill>
            <a:prstDash val="solid"/>
          </a:ln>
          <a:effectLst>
            <a:outerShdw sx="100000" sy="100000" kx="0" ky="0" algn="bl" rotWithShape="0" blurRad="88900" dist="25400" dir="2700000">
              <a:srgbClr val="000000">
                <a:alpha val="18000"/>
              </a:srgbClr>
            </a:outerShdw>
          </a:effectLst>
        </p:spPr>
      </p:sp>
      <p:sp>
        <p:nvSpPr>
          <p:cNvPr id="12" name="Text 10"/>
          <p:cNvSpPr/>
          <p:nvPr/>
        </p:nvSpPr>
        <p:spPr>
          <a:xfrm>
            <a:off x="4846320" y="1691640"/>
            <a:ext cx="457200" cy="411480"/>
          </a:xfrm>
          <a:prstGeom prst="rect">
            <a:avLst/>
          </a:prstGeom>
          <a:noFill/>
          <a:ln/>
        </p:spPr>
        <p:txBody>
          <a:bodyPr wrap="square" lIns="0" tIns="0" rIns="0" bIns="0" rtlCol="0" anchor="ctr"/>
          <a:lstStyle/>
          <a:p>
            <a:pPr indent="0" marL="0">
              <a:buNone/>
            </a:pPr>
            <a:r>
              <a:rPr lang="en-US" sz="2200" b="1" dirty="0">
                <a:solidFill>
                  <a:srgbClr val="41B6E6"/>
                </a:solidFill>
                <a:latin typeface="Arial" pitchFamily="34" charset="0"/>
                <a:ea typeface="Arial" pitchFamily="34" charset="-122"/>
                <a:cs typeface="Arial" pitchFamily="34" charset="-120"/>
              </a:rPr>
              <a:t>3</a:t>
            </a:r>
            <a:endParaRPr lang="en-US" sz="2200" dirty="0"/>
          </a:p>
        </p:txBody>
      </p:sp>
      <p:sp>
        <p:nvSpPr>
          <p:cNvPr id="13" name="Text 11"/>
          <p:cNvSpPr/>
          <p:nvPr/>
        </p:nvSpPr>
        <p:spPr>
          <a:xfrm>
            <a:off x="4873752" y="2148840"/>
            <a:ext cx="1499616" cy="914400"/>
          </a:xfrm>
          <a:prstGeom prst="rect">
            <a:avLst/>
          </a:prstGeom>
          <a:noFill/>
          <a:ln/>
        </p:spPr>
        <p:txBody>
          <a:bodyPr wrap="square" lIns="0" tIns="0" rIns="0" bIns="0" rtlCol="0" anchor="ctr"/>
          <a:lstStyle/>
          <a:p>
            <a:pPr indent="0" marL="0">
              <a:lnSpc>
                <a:spcPct val="105000"/>
              </a:lnSpc>
              <a:buNone/>
            </a:pPr>
            <a:r>
              <a:rPr lang="en-US" sz="1350" b="1" dirty="0">
                <a:solidFill>
                  <a:srgbClr val="003087"/>
                </a:solidFill>
                <a:latin typeface="Arial" pitchFamily="34" charset="0"/>
                <a:ea typeface="Arial" pitchFamily="34" charset="-122"/>
                <a:cs typeface="Arial" pitchFamily="34" charset="-120"/>
              </a:rPr>
              <a:t>SystmOne link</a:t>
            </a:r>
            <a:endParaRPr lang="en-US" sz="1350" dirty="0"/>
          </a:p>
          <a:p>
            <a:pPr indent="0" marL="0">
              <a:lnSpc>
                <a:spcPct val="105000"/>
              </a:lnSpc>
              <a:buNone/>
            </a:pPr>
            <a:r>
              <a:rPr lang="en-US" sz="1050" dirty="0">
                <a:solidFill>
                  <a:srgbClr val="425563"/>
                </a:solidFill>
                <a:latin typeface="Arial" pitchFamily="34" charset="0"/>
                <a:ea typeface="Arial" pitchFamily="34" charset="-122"/>
                <a:cs typeface="Arial" pitchFamily="34" charset="-120"/>
              </a:rPr>
              <a:t>Case notes and tasks, with full approval</a:t>
            </a:r>
            <a:endParaRPr lang="en-US" sz="1350" dirty="0"/>
          </a:p>
        </p:txBody>
      </p:sp>
      <p:sp>
        <p:nvSpPr>
          <p:cNvPr id="14" name="Shape 12"/>
          <p:cNvSpPr/>
          <p:nvPr/>
        </p:nvSpPr>
        <p:spPr>
          <a:xfrm>
            <a:off x="6574536" y="2359152"/>
            <a:ext cx="201168" cy="0"/>
          </a:xfrm>
          <a:prstGeom prst="line">
            <a:avLst/>
          </a:prstGeom>
          <a:noFill/>
          <a:ln w="25400">
            <a:solidFill>
              <a:srgbClr val="768692"/>
            </a:solidFill>
            <a:prstDash val="solid"/>
            <a:tailEnd type="triangle"/>
          </a:ln>
        </p:spPr>
      </p:sp>
      <p:sp>
        <p:nvSpPr>
          <p:cNvPr id="15" name="Shape 13"/>
          <p:cNvSpPr/>
          <p:nvPr/>
        </p:nvSpPr>
        <p:spPr>
          <a:xfrm>
            <a:off x="6812280" y="1554480"/>
            <a:ext cx="1828800" cy="1600200"/>
          </a:xfrm>
          <a:prstGeom prst="roundRect">
            <a:avLst>
              <a:gd name="adj" fmla="val 5714"/>
            </a:avLst>
          </a:prstGeom>
          <a:solidFill>
            <a:srgbClr val="EAF3FB"/>
          </a:solidFill>
          <a:ln w="15875">
            <a:solidFill>
              <a:srgbClr val="C9DDF0"/>
            </a:solidFill>
            <a:prstDash val="solid"/>
          </a:ln>
          <a:effectLst>
            <a:outerShdw sx="100000" sy="100000" kx="0" ky="0" algn="bl" rotWithShape="0" blurRad="88900" dist="25400" dir="2700000">
              <a:srgbClr val="000000">
                <a:alpha val="18000"/>
              </a:srgbClr>
            </a:outerShdw>
          </a:effectLst>
        </p:spPr>
      </p:sp>
      <p:sp>
        <p:nvSpPr>
          <p:cNvPr id="16" name="Text 14"/>
          <p:cNvSpPr/>
          <p:nvPr/>
        </p:nvSpPr>
        <p:spPr>
          <a:xfrm>
            <a:off x="6949440" y="1691640"/>
            <a:ext cx="457200" cy="411480"/>
          </a:xfrm>
          <a:prstGeom prst="rect">
            <a:avLst/>
          </a:prstGeom>
          <a:noFill/>
          <a:ln/>
        </p:spPr>
        <p:txBody>
          <a:bodyPr wrap="square" lIns="0" tIns="0" rIns="0" bIns="0" rtlCol="0" anchor="ctr"/>
          <a:lstStyle/>
          <a:p>
            <a:pPr indent="0" marL="0">
              <a:buNone/>
            </a:pPr>
            <a:r>
              <a:rPr lang="en-US" sz="2200" b="1" dirty="0">
                <a:solidFill>
                  <a:srgbClr val="41B6E6"/>
                </a:solidFill>
                <a:latin typeface="Arial" pitchFamily="34" charset="0"/>
                <a:ea typeface="Arial" pitchFamily="34" charset="-122"/>
                <a:cs typeface="Arial" pitchFamily="34" charset="-120"/>
              </a:rPr>
              <a:t>4</a:t>
            </a:r>
            <a:endParaRPr lang="en-US" sz="2200" dirty="0"/>
          </a:p>
        </p:txBody>
      </p:sp>
      <p:sp>
        <p:nvSpPr>
          <p:cNvPr id="17" name="Text 15"/>
          <p:cNvSpPr/>
          <p:nvPr/>
        </p:nvSpPr>
        <p:spPr>
          <a:xfrm>
            <a:off x="6976872" y="2148840"/>
            <a:ext cx="1499616" cy="914400"/>
          </a:xfrm>
          <a:prstGeom prst="rect">
            <a:avLst/>
          </a:prstGeom>
          <a:noFill/>
          <a:ln/>
        </p:spPr>
        <p:txBody>
          <a:bodyPr wrap="square" lIns="0" tIns="0" rIns="0" bIns="0" rtlCol="0" anchor="ctr"/>
          <a:lstStyle/>
          <a:p>
            <a:pPr indent="0" marL="0">
              <a:lnSpc>
                <a:spcPct val="105000"/>
              </a:lnSpc>
              <a:buNone/>
            </a:pPr>
            <a:r>
              <a:rPr lang="en-US" sz="1350" b="1" dirty="0">
                <a:solidFill>
                  <a:srgbClr val="003087"/>
                </a:solidFill>
                <a:latin typeface="Arial" pitchFamily="34" charset="0"/>
                <a:ea typeface="Arial" pitchFamily="34" charset="-122"/>
                <a:cs typeface="Arial" pitchFamily="34" charset="-120"/>
              </a:rPr>
              <a:t>Contacts directory</a:t>
            </a:r>
            <a:endParaRPr lang="en-US" sz="1350" dirty="0"/>
          </a:p>
          <a:p>
            <a:pPr indent="0" marL="0">
              <a:lnSpc>
                <a:spcPct val="105000"/>
              </a:lnSpc>
              <a:buNone/>
            </a:pPr>
            <a:r>
              <a:rPr lang="en-US" sz="1050" dirty="0">
                <a:solidFill>
                  <a:srgbClr val="425563"/>
                </a:solidFill>
                <a:latin typeface="Arial" pitchFamily="34" charset="0"/>
                <a:ea typeface="Arial" pitchFamily="34" charset="-122"/>
                <a:cs typeface="Arial" pitchFamily="34" charset="-120"/>
              </a:rPr>
              <a:t>The numbers staff actually ring, kept current</a:t>
            </a:r>
            <a:endParaRPr lang="en-US" sz="1350" dirty="0"/>
          </a:p>
        </p:txBody>
      </p:sp>
      <p:sp>
        <p:nvSpPr>
          <p:cNvPr id="18" name="Text 16"/>
          <p:cNvSpPr/>
          <p:nvPr/>
        </p:nvSpPr>
        <p:spPr>
          <a:xfrm>
            <a:off x="640080" y="3611880"/>
            <a:ext cx="7863840" cy="731520"/>
          </a:xfrm>
          <a:prstGeom prst="rect">
            <a:avLst/>
          </a:prstGeom>
          <a:noFill/>
          <a:ln/>
        </p:spPr>
        <p:txBody>
          <a:bodyPr wrap="square" lIns="0" tIns="0" rIns="0" bIns="0" rtlCol="0" anchor="ctr"/>
          <a:lstStyle/>
          <a:p>
            <a:pPr algn="ctr" indent="0" marL="0">
              <a:buNone/>
            </a:pPr>
            <a:r>
              <a:rPr lang="en-US" sz="1300" b="1" dirty="0">
                <a:solidFill>
                  <a:srgbClr val="212B32"/>
                </a:solidFill>
                <a:latin typeface="Arial" pitchFamily="34" charset="0"/>
                <a:ea typeface="Arial" pitchFamily="34" charset="-122"/>
                <a:cs typeface="Arial" pitchFamily="34" charset="-120"/>
              </a:rPr>
              <a:t>In that order, each step behind its own sign-off. Nothing here starts without approval, and the product is useful from step zero.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3087"/>
        </a:solidFill>
      </p:bgPr>
    </p:bg>
    <p:spTree>
      <p:nvGrpSpPr>
        <p:cNvPr id="1" name=""/>
        <p:cNvGrpSpPr/>
        <p:nvPr/>
      </p:nvGrpSpPr>
      <p:grpSpPr>
        <a:xfrm>
          <a:off x="0" y="0"/>
          <a:ext cx="0" cy="0"/>
          <a:chOff x="0" y="0"/>
          <a:chExt cx="0" cy="0"/>
        </a:xfrm>
      </p:grpSpPr>
      <p:sp>
        <p:nvSpPr>
          <p:cNvPr id="2" name="Text 0"/>
          <p:cNvSpPr/>
          <p:nvPr/>
        </p:nvSpPr>
        <p:spPr>
          <a:xfrm>
            <a:off x="548640" y="1417320"/>
            <a:ext cx="8046720" cy="731520"/>
          </a:xfrm>
          <a:prstGeom prst="rect">
            <a:avLst/>
          </a:prstGeom>
          <a:noFill/>
          <a:ln/>
        </p:spPr>
        <p:txBody>
          <a:bodyPr wrap="square" lIns="0" tIns="0" rIns="0" bIns="0"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See it for yourself.</a:t>
            </a:r>
            <a:endParaRPr lang="en-US" sz="3600" dirty="0"/>
          </a:p>
        </p:txBody>
      </p:sp>
      <p:sp>
        <p:nvSpPr>
          <p:cNvPr id="3" name="Text 1"/>
          <p:cNvSpPr/>
          <p:nvPr/>
        </p:nvSpPr>
        <p:spPr>
          <a:xfrm>
            <a:off x="548640" y="2286000"/>
            <a:ext cx="8046720" cy="685800"/>
          </a:xfrm>
          <a:prstGeom prst="rect">
            <a:avLst/>
          </a:prstGeom>
          <a:noFill/>
          <a:ln/>
        </p:spPr>
        <p:txBody>
          <a:bodyPr wrap="square" lIns="0" tIns="0" rIns="0" bIns="0" rtlCol="0" anchor="ctr"/>
          <a:lstStyle/>
          <a:p>
            <a:pPr algn="ctr" indent="0" marL="0">
              <a:buNone/>
            </a:pPr>
            <a:r>
              <a:rPr lang="en-US" sz="3400" b="1" dirty="0">
                <a:solidFill>
                  <a:srgbClr val="41B6E6"/>
                </a:solidFill>
                <a:latin typeface="Arial" pitchFamily="34" charset="0"/>
                <a:ea typeface="Arial" pitchFamily="34" charset="-122"/>
                <a:cs typeface="Arial" pitchFamily="34" charset="-120"/>
              </a:rPr>
              <a:t>www.wardhub.live</a:t>
            </a:r>
            <a:endParaRPr lang="en-US" sz="3400" dirty="0"/>
          </a:p>
        </p:txBody>
      </p:sp>
      <p:sp>
        <p:nvSpPr>
          <p:cNvPr id="4" name="Text 2"/>
          <p:cNvSpPr/>
          <p:nvPr/>
        </p:nvSpPr>
        <p:spPr>
          <a:xfrm>
            <a:off x="548640" y="3108960"/>
            <a:ext cx="8046720" cy="457200"/>
          </a:xfrm>
          <a:prstGeom prst="rect">
            <a:avLst/>
          </a:prstGeom>
          <a:noFill/>
          <a:ln/>
        </p:spPr>
        <p:txBody>
          <a:bodyPr wrap="square" lIns="0" tIns="0" rIns="0" bIns="0" rtlCol="0" anchor="ctr"/>
          <a:lstStyle/>
          <a:p>
            <a:pPr algn="ctr" indent="0" marL="0">
              <a:buNone/>
            </a:pPr>
            <a:r>
              <a:rPr lang="en-US" sz="1500" dirty="0">
                <a:solidFill>
                  <a:srgbClr val="B7CDE8"/>
                </a:solidFill>
                <a:latin typeface="Arial" pitchFamily="34" charset="0"/>
                <a:ea typeface="Arial" pitchFamily="34" charset="-122"/>
                <a:cs typeface="Arial" pitchFamily="34" charset="-120"/>
              </a:rPr>
              <a:t>Live now, on any device. Phones included. All data fictional.</a:t>
            </a:r>
            <a:endParaRPr lang="en-US" sz="1500" dirty="0"/>
          </a:p>
        </p:txBody>
      </p:sp>
      <p:sp>
        <p:nvSpPr>
          <p:cNvPr id="5" name="Text 3"/>
          <p:cNvSpPr/>
          <p:nvPr/>
        </p:nvSpPr>
        <p:spPr>
          <a:xfrm>
            <a:off x="548640" y="4206240"/>
            <a:ext cx="8046720" cy="365760"/>
          </a:xfrm>
          <a:prstGeom prst="rect">
            <a:avLst/>
          </a:prstGeom>
          <a:noFill/>
          <a:ln/>
        </p:spPr>
        <p:txBody>
          <a:bodyPr wrap="square" lIns="0" tIns="0" rIns="0" bIns="0" rtlCol="0" anchor="ctr"/>
          <a:lstStyle/>
          <a:p>
            <a:pPr algn="ctr" indent="0" marL="0">
              <a:buNone/>
            </a:pPr>
            <a:r>
              <a:rPr lang="en-US" sz="1100" dirty="0">
                <a:solidFill>
                  <a:srgbClr val="B7CDE8"/>
                </a:solidFill>
                <a:latin typeface="Arial" pitchFamily="34" charset="0"/>
                <a:ea typeface="Arial" pitchFamily="34" charset="-122"/>
                <a:cs typeface="Arial" pitchFamily="34" charset="-120"/>
              </a:rPr>
              <a:t>Mike Sharpe  ·  Ward nurse in charge  ·  Derbyshire Healthcare NHS Foundation Trust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wardHub - trust executive briefing</dc:title>
  <dc:subject>PptxGenJS Presentation</dc:subject>
  <dc:creator>Mike Sharpe</dc:creator>
  <cp:lastModifiedBy>Mike Sharpe</cp:lastModifiedBy>
  <cp:revision>1</cp:revision>
  <dcterms:created xsi:type="dcterms:W3CDTF">2026-07-06T09:22:26Z</dcterms:created>
  <dcterms:modified xsi:type="dcterms:W3CDTF">2026-07-06T09:22:26Z</dcterms:modified>
</cp:coreProperties>
</file>